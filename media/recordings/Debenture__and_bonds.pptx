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937-3E63-43E4-AA7D-3366C5C693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E98040-FE2E-48E1-8B76-B4DF0C21A9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9BC096-E06B-447C-9FC2-98BEBBF176DA}"/>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5" name="Footer Placeholder 4">
            <a:extLst>
              <a:ext uri="{FF2B5EF4-FFF2-40B4-BE49-F238E27FC236}">
                <a16:creationId xmlns:a16="http://schemas.microsoft.com/office/drawing/2014/main" id="{ED04BCA8-CE20-4533-8041-BF3AEF84F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BEA4AB-9B51-4A4D-94C7-8EF1A0103D25}"/>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338676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1D212-82D9-4EE2-AB81-D385DDD992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5315AD-826E-4EB1-9523-0DDC8FA10A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D885A8-1143-4B83-8A5A-B80ED2522190}"/>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5" name="Footer Placeholder 4">
            <a:extLst>
              <a:ext uri="{FF2B5EF4-FFF2-40B4-BE49-F238E27FC236}">
                <a16:creationId xmlns:a16="http://schemas.microsoft.com/office/drawing/2014/main" id="{C6859786-52B2-4E87-832B-9693ABC47E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8661A1-697A-4E9A-B3E5-2B5004A46C7E}"/>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836905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F46B0-4A25-401F-A853-90273772A9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2DF32D-4BB7-4CCD-BB7C-6F4813F73B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085A38-9470-472E-A421-DD8D35841548}"/>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5" name="Footer Placeholder 4">
            <a:extLst>
              <a:ext uri="{FF2B5EF4-FFF2-40B4-BE49-F238E27FC236}">
                <a16:creationId xmlns:a16="http://schemas.microsoft.com/office/drawing/2014/main" id="{70CF0605-2257-4A76-87BE-0646842CC8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FD159A-FF56-43B7-A7F7-8B85D968457E}"/>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1352141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8A221-E9D9-4B3F-9D3F-E6959316AB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E2198B-E233-4AA3-A3C2-1DFE44AF2A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D168B4-D62E-44D1-A097-2F551D16E4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2B9033-0E46-464B-91BA-753B480AF020}"/>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6" name="Footer Placeholder 5">
            <a:extLst>
              <a:ext uri="{FF2B5EF4-FFF2-40B4-BE49-F238E27FC236}">
                <a16:creationId xmlns:a16="http://schemas.microsoft.com/office/drawing/2014/main" id="{70BED4A3-1246-4148-BDEF-6EEC5E2B77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F66F8C-233C-4962-BFD0-424C5CAC81B2}"/>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2346832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2C300-026A-4A82-9AD4-88E4F34013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4A249F-4FFD-4608-958F-DFE405533D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6C073D-8A3C-4BD0-84F2-1AEE090879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D2F1C1-021C-4804-9557-59E6B85964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2C274D-3803-4EDC-A7A7-07F4CE70F1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DB93BA-363F-4A6E-AC40-262E6EA78889}"/>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8" name="Footer Placeholder 7">
            <a:extLst>
              <a:ext uri="{FF2B5EF4-FFF2-40B4-BE49-F238E27FC236}">
                <a16:creationId xmlns:a16="http://schemas.microsoft.com/office/drawing/2014/main" id="{B3CC87AB-BF54-4672-B27C-36F22F42F6B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FE6660-AA5E-4734-B59F-15DBE2EC0B39}"/>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4249174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D3D2-9B1E-45D8-917D-50D6EBD8E9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7A9CB8A-8425-4D5C-957C-0B260D461173}"/>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4" name="Footer Placeholder 3">
            <a:extLst>
              <a:ext uri="{FF2B5EF4-FFF2-40B4-BE49-F238E27FC236}">
                <a16:creationId xmlns:a16="http://schemas.microsoft.com/office/drawing/2014/main" id="{CC73DBE3-62AA-42CF-B35B-535833A59F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2A6E5D8-5C59-4744-84AC-347ECB60FF68}"/>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1738276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3D64C6-E363-4489-B464-0258A2C509CD}"/>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3" name="Footer Placeholder 2">
            <a:extLst>
              <a:ext uri="{FF2B5EF4-FFF2-40B4-BE49-F238E27FC236}">
                <a16:creationId xmlns:a16="http://schemas.microsoft.com/office/drawing/2014/main" id="{1AB65EFB-1E0C-444A-8E89-751A084AAE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536585-DF22-41BC-8DB6-CF543A26851E}"/>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254806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95D5-46FC-4D8C-8B1C-045042DB88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FDE5D7F-3726-4812-BE71-9BAB2C36D5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F2D7D8-D87E-48B0-BB15-D0960973A8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F2AB49-EF19-4F4B-B79F-22545BB90235}"/>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6" name="Footer Placeholder 5">
            <a:extLst>
              <a:ext uri="{FF2B5EF4-FFF2-40B4-BE49-F238E27FC236}">
                <a16:creationId xmlns:a16="http://schemas.microsoft.com/office/drawing/2014/main" id="{FB839B6B-BFC7-490B-823C-C4093084D2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BFA36F-8E63-4D8C-81DE-F8ACDC1A56AA}"/>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4136875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9A502-100B-4296-B859-8A49002081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48644D-BD0F-4BA4-BB8C-0F28E0CB4C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13712D-4E5C-4BAF-9341-834629662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4B102-EAA9-427E-BFB8-9C02BF1F6ADA}"/>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6" name="Footer Placeholder 5">
            <a:extLst>
              <a:ext uri="{FF2B5EF4-FFF2-40B4-BE49-F238E27FC236}">
                <a16:creationId xmlns:a16="http://schemas.microsoft.com/office/drawing/2014/main" id="{DC8FD95D-4CE7-4E7B-B1EB-EF11875F0A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8B3221-E7E1-409D-9E38-71FCA0413722}"/>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305764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2DD1B-2DE3-415C-A1F5-C19B3B2AD1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074F7E-B72A-464C-8B68-D3F1E2B50F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2A9E9F-3F2D-435C-8B7E-DA21ECA0CCD1}"/>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5" name="Footer Placeholder 4">
            <a:extLst>
              <a:ext uri="{FF2B5EF4-FFF2-40B4-BE49-F238E27FC236}">
                <a16:creationId xmlns:a16="http://schemas.microsoft.com/office/drawing/2014/main" id="{667E19C4-8D43-4F7D-9D8F-097C6EBDBB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FBCF0F-D68C-4660-B312-A5E9D80542F0}"/>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2331149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0C1600-CAD4-44F7-8552-C1173F405B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C1D127-B6BE-4402-BAF5-88E1546142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955B22-5BF0-4A82-84C6-E0BA9F66A269}"/>
              </a:ext>
            </a:extLst>
          </p:cNvPr>
          <p:cNvSpPr>
            <a:spLocks noGrp="1"/>
          </p:cNvSpPr>
          <p:nvPr>
            <p:ph type="dt" sz="half" idx="10"/>
          </p:nvPr>
        </p:nvSpPr>
        <p:spPr/>
        <p:txBody>
          <a:bodyPr/>
          <a:lstStyle/>
          <a:p>
            <a:fld id="{C45C0E5E-E963-4506-890C-CF82D0662223}" type="datetimeFigureOut">
              <a:rPr lang="en-IN" smtClean="0"/>
              <a:t>19-01-2022</a:t>
            </a:fld>
            <a:endParaRPr lang="en-IN"/>
          </a:p>
        </p:txBody>
      </p:sp>
      <p:sp>
        <p:nvSpPr>
          <p:cNvPr id="5" name="Footer Placeholder 4">
            <a:extLst>
              <a:ext uri="{FF2B5EF4-FFF2-40B4-BE49-F238E27FC236}">
                <a16:creationId xmlns:a16="http://schemas.microsoft.com/office/drawing/2014/main" id="{684D1153-9118-41F8-B10E-0BE7D8707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CFDAA9-1551-4FDF-9343-4443D07F4AFD}"/>
              </a:ext>
            </a:extLst>
          </p:cNvPr>
          <p:cNvSpPr>
            <a:spLocks noGrp="1"/>
          </p:cNvSpPr>
          <p:nvPr>
            <p:ph type="sldNum" sz="quarter" idx="12"/>
          </p:nvPr>
        </p:nvSpPr>
        <p:spPr/>
        <p:txBody>
          <a:bodyPr/>
          <a:lstStyle/>
          <a:p>
            <a:fld id="{99FF143A-7D1A-4ECF-A9BD-97697271511E}" type="slidenum">
              <a:rPr lang="en-IN" smtClean="0"/>
              <a:t>‹#›</a:t>
            </a:fld>
            <a:endParaRPr lang="en-IN"/>
          </a:p>
        </p:txBody>
      </p:sp>
    </p:spTree>
    <p:extLst>
      <p:ext uri="{BB962C8B-B14F-4D97-AF65-F5344CB8AC3E}">
        <p14:creationId xmlns:p14="http://schemas.microsoft.com/office/powerpoint/2010/main" val="3226106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BA4870-8355-4BE8-BE15-2702E80BF9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CD3F82-7D43-40F5-AA56-24A4E455C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F535AA-A386-4AD7-A175-DE00599ED6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5C0E5E-E963-4506-890C-CF82D0662223}" type="datetimeFigureOut">
              <a:rPr lang="en-IN" smtClean="0"/>
              <a:t>19-01-2022</a:t>
            </a:fld>
            <a:endParaRPr lang="en-IN"/>
          </a:p>
        </p:txBody>
      </p:sp>
      <p:sp>
        <p:nvSpPr>
          <p:cNvPr id="5" name="Footer Placeholder 4">
            <a:extLst>
              <a:ext uri="{FF2B5EF4-FFF2-40B4-BE49-F238E27FC236}">
                <a16:creationId xmlns:a16="http://schemas.microsoft.com/office/drawing/2014/main" id="{F94B02A1-4A43-48B4-B0FA-C8D318F121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64200C4-00AD-4BF8-99A7-2969008450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FF143A-7D1A-4ECF-A9BD-97697271511E}" type="slidenum">
              <a:rPr lang="en-IN" smtClean="0"/>
              <a:t>‹#›</a:t>
            </a:fld>
            <a:endParaRPr lang="en-IN"/>
          </a:p>
        </p:txBody>
      </p:sp>
    </p:spTree>
    <p:extLst>
      <p:ext uri="{BB962C8B-B14F-4D97-AF65-F5344CB8AC3E}">
        <p14:creationId xmlns:p14="http://schemas.microsoft.com/office/powerpoint/2010/main" val="424698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oppr.com/guides/accountancy/issue-and-redemption-of-debentures/meaning-of-debenture/" TargetMode="External"/><Relationship Id="rId2" Type="http://schemas.openxmlformats.org/officeDocument/2006/relationships/hyperlink" Target="https://www.toppr.com/guides/economics/money-and-credit/all-about-money-and-credit/" TargetMode="External"/><Relationship Id="rId1" Type="http://schemas.openxmlformats.org/officeDocument/2006/relationships/slideLayout" Target="../slideLayouts/slideLayout1.xml"/><Relationship Id="rId4" Type="http://schemas.openxmlformats.org/officeDocument/2006/relationships/hyperlink" Target="https://www.toppr.com/guides/business-studies/sources-of-business-finance/equity-shares-and-preference-share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toppr.com/guides/business-mathematics-and-statistics/time-value-of-money/effective-rate-of-interest/" TargetMode="External"/><Relationship Id="rId2" Type="http://schemas.openxmlformats.org/officeDocument/2006/relationships/hyperlink" Target="https://www.toppr.com/guides/economics/government-budget-and-the-economy/debt/"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toppr.com/guides/fundamentals-of-economics-and-management/money/meaning-and-causes-of-inflation/" TargetMode="External"/><Relationship Id="rId2" Type="http://schemas.openxmlformats.org/officeDocument/2006/relationships/hyperlink" Target="https://www.toppr.com/guides/maths/comparing-quantities/tax/" TargetMode="External"/><Relationship Id="rId1" Type="http://schemas.openxmlformats.org/officeDocument/2006/relationships/slideLayout" Target="../slideLayouts/slideLayout1.xml"/><Relationship Id="rId4" Type="http://schemas.openxmlformats.org/officeDocument/2006/relationships/hyperlink" Target="https://www.toppr.com/guides/fundamentals-of-accounting/non-profit-accounting/capital-funds-and-special-fund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toppr.com/guides/accounting-and-auditing/preparation-of-final-accounts-of-sole-proprietor/classification-of-assets-and-liabilitie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toppr.com/guides/business-studies/sources-of-business-finance/equity-shares-and-preference-shares/" TargetMode="External"/><Relationship Id="rId2" Type="http://schemas.openxmlformats.org/officeDocument/2006/relationships/hyperlink" Target="https://www.toppr.com/guides/business-studies/business-services/nature-and-types-of-service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investopedia.com/terms/i/iou.asp" TargetMode="External"/><Relationship Id="rId7" Type="http://schemas.openxmlformats.org/officeDocument/2006/relationships/hyperlink" Target="https://www.investopedia.com/terms/f/fixedinterestrate.asp" TargetMode="External"/><Relationship Id="rId2" Type="http://schemas.openxmlformats.org/officeDocument/2006/relationships/hyperlink" Target="https://www.investopedia.com/terms/f/fixed-incomesecurity.asp" TargetMode="External"/><Relationship Id="rId1" Type="http://schemas.openxmlformats.org/officeDocument/2006/relationships/slideLayout" Target="../slideLayouts/slideLayout1.xml"/><Relationship Id="rId6" Type="http://schemas.openxmlformats.org/officeDocument/2006/relationships/hyperlink" Target="https://www.investopedia.com/terms/v/variableinterestrate.asp" TargetMode="External"/><Relationship Id="rId5" Type="http://schemas.openxmlformats.org/officeDocument/2006/relationships/hyperlink" Target="https://www.investopedia.com/terms/p/principal.asp" TargetMode="External"/><Relationship Id="rId4" Type="http://schemas.openxmlformats.org/officeDocument/2006/relationships/hyperlink" Target="https://www.investopedia.com/terms/l/lender.as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investopedia.com/terms/f/foreignbonds.asp"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theinvestorsbook.com/business.html" TargetMode="External"/><Relationship Id="rId7" Type="http://schemas.openxmlformats.org/officeDocument/2006/relationships/hyperlink" Target="https://theinvestorsbook.com/seed-capital.html#Conclusion" TargetMode="External"/><Relationship Id="rId2" Type="http://schemas.openxmlformats.org/officeDocument/2006/relationships/hyperlink" Target="https://theinvestorsbook.com/successful-entrepreneur.html" TargetMode="External"/><Relationship Id="rId1" Type="http://schemas.openxmlformats.org/officeDocument/2006/relationships/slideLayout" Target="../slideLayouts/slideLayout1.xml"/><Relationship Id="rId6" Type="http://schemas.openxmlformats.org/officeDocument/2006/relationships/hyperlink" Target="https://theinvestorsbook.com/seed-capital.html#Disadvantages" TargetMode="External"/><Relationship Id="rId5" Type="http://schemas.openxmlformats.org/officeDocument/2006/relationships/hyperlink" Target="https://theinvestorsbook.com/seed-capital.html#Advantages" TargetMode="External"/><Relationship Id="rId4" Type="http://schemas.openxmlformats.org/officeDocument/2006/relationships/hyperlink" Target="https://theinvestorsbook.com/seed-capital.html#Sourc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theinvestorsbook.com/line-of-credit-loc.html"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hyperlink" Target="https://www.investopedia.com/terms/l/limitedliability.asp" TargetMode="External"/><Relationship Id="rId3" Type="http://schemas.openxmlformats.org/officeDocument/2006/relationships/hyperlink" Target="https://www.investopedia.com/terms/p/privatecompany.asp" TargetMode="External"/><Relationship Id="rId7" Type="http://schemas.openxmlformats.org/officeDocument/2006/relationships/hyperlink" Target="https://www.investopedia.com/terms/l/limited-partner.asp" TargetMode="External"/><Relationship Id="rId2" Type="http://schemas.openxmlformats.org/officeDocument/2006/relationships/hyperlink" Target="https://www.investopedia.com/terms/a/alternative_investment.asp" TargetMode="External"/><Relationship Id="rId1" Type="http://schemas.openxmlformats.org/officeDocument/2006/relationships/slideLayout" Target="../slideLayouts/slideLayout1.xml"/><Relationship Id="rId6" Type="http://schemas.openxmlformats.org/officeDocument/2006/relationships/hyperlink" Target="https://www.investopedia.com/terms/a/acquisition.asp" TargetMode="External"/><Relationship Id="rId5" Type="http://schemas.openxmlformats.org/officeDocument/2006/relationships/hyperlink" Target="https://www.investopedia.com/terms/d/delisting.asp" TargetMode="External"/><Relationship Id="rId4" Type="http://schemas.openxmlformats.org/officeDocument/2006/relationships/hyperlink" Target="https://www.investopedia.com/terms/b/buyout.asp" TargetMode="External"/><Relationship Id="rId9" Type="http://schemas.openxmlformats.org/officeDocument/2006/relationships/hyperlink" Target="https://www.investopedia.com/terms/g/generalpartner.as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www.investopedia.com/articles/investing/030415/difference-between-private-and-public-equity.asp"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BE0CFB-FB5D-4574-8A0D-4A1785F6E37A}"/>
              </a:ext>
            </a:extLst>
          </p:cNvPr>
          <p:cNvSpPr>
            <a:spLocks noGrp="1"/>
          </p:cNvSpPr>
          <p:nvPr>
            <p:ph type="subTitle" idx="1"/>
          </p:nvPr>
        </p:nvSpPr>
        <p:spPr>
          <a:xfrm>
            <a:off x="275208" y="328473"/>
            <a:ext cx="11656380" cy="6143347"/>
          </a:xfrm>
        </p:spPr>
        <p:txBody>
          <a:bodyPr/>
          <a:lstStyle/>
          <a:p>
            <a:pPr marL="457200" indent="-457200" algn="just">
              <a:buFont typeface="Wingdings" panose="05000000000000000000" pitchFamily="2" charset="2"/>
              <a:buChar char="Ø"/>
            </a:pPr>
            <a:r>
              <a:rPr lang="en-US" sz="3200" b="1" i="0" dirty="0">
                <a:solidFill>
                  <a:srgbClr val="000000"/>
                </a:solidFill>
                <a:effectLst/>
                <a:latin typeface="Open Sans" panose="020B0606030504020204" pitchFamily="34" charset="0"/>
              </a:rPr>
              <a:t>Debenture</a:t>
            </a:r>
          </a:p>
          <a:p>
            <a:pPr marL="457200" indent="-457200" algn="just">
              <a:buFont typeface="Wingdings" panose="05000000000000000000" pitchFamily="2" charset="2"/>
              <a:buChar char="Ø"/>
            </a:pPr>
            <a:r>
              <a:rPr lang="en-US" sz="3200" b="0" i="0" dirty="0">
                <a:effectLst/>
                <a:latin typeface="Minion Pro"/>
              </a:rPr>
              <a:t>The word ‘debenture’ itself is a derivation of the Latin word ‘</a:t>
            </a:r>
            <a:r>
              <a:rPr lang="en-US" sz="3200" b="0" i="0" dirty="0" err="1">
                <a:effectLst/>
                <a:latin typeface="Minion Pro"/>
              </a:rPr>
              <a:t>debere</a:t>
            </a:r>
            <a:r>
              <a:rPr lang="en-US" sz="3200" b="0" i="0" dirty="0">
                <a:effectLst/>
                <a:latin typeface="Minion Pro"/>
              </a:rPr>
              <a:t>’ which means to borrow or loan. </a:t>
            </a:r>
          </a:p>
          <a:p>
            <a:pPr marL="457200" indent="-457200" algn="just">
              <a:buFont typeface="Wingdings" panose="05000000000000000000" pitchFamily="2" charset="2"/>
              <a:buChar char="Ø"/>
            </a:pPr>
            <a:r>
              <a:rPr lang="en-US" sz="3200" b="0" i="0" dirty="0">
                <a:effectLst/>
                <a:latin typeface="Minion Pro"/>
              </a:rPr>
              <a:t>Debentures are written instruments of debt that companies issue under their common seal. They are similar to a loan certificate.</a:t>
            </a:r>
          </a:p>
          <a:p>
            <a:pPr marL="457200" indent="-457200" algn="just">
              <a:buFont typeface="Wingdings" panose="05000000000000000000" pitchFamily="2" charset="2"/>
              <a:buChar char="Ø"/>
            </a:pPr>
            <a:r>
              <a:rPr lang="en-US" sz="3200" b="0" i="0" dirty="0">
                <a:effectLst/>
                <a:latin typeface="Minion Pro"/>
              </a:rPr>
              <a:t>Debentures are issued to the public as a contract of repayment of </a:t>
            </a:r>
            <a:r>
              <a:rPr lang="en-US" sz="3200" b="0" i="0" u="none" strike="noStrike" dirty="0">
                <a:solidFill>
                  <a:srgbClr val="55BBEA"/>
                </a:solidFill>
                <a:effectLst/>
                <a:latin typeface="Minion Pro"/>
                <a:hlinkClick r:id="rId2"/>
              </a:rPr>
              <a:t>money</a:t>
            </a:r>
            <a:r>
              <a:rPr lang="en-US" sz="3200" b="0" i="0" dirty="0">
                <a:effectLst/>
                <a:latin typeface="Minion Pro"/>
              </a:rPr>
              <a:t> borrowed from them. </a:t>
            </a:r>
          </a:p>
          <a:p>
            <a:pPr marL="457200" indent="-457200" algn="just">
              <a:buFont typeface="Wingdings" panose="05000000000000000000" pitchFamily="2" charset="2"/>
              <a:buChar char="Ø"/>
            </a:pPr>
            <a:r>
              <a:rPr lang="en-US" sz="3200" b="0" i="0" dirty="0">
                <a:effectLst/>
                <a:latin typeface="Minion Pro"/>
              </a:rPr>
              <a:t>These debentures are for a fixed period and a fixed interest rate that can be payable yearly or half-yearly. </a:t>
            </a:r>
            <a:r>
              <a:rPr lang="en-US" sz="3200" b="0" i="0" u="none" strike="noStrike" dirty="0">
                <a:solidFill>
                  <a:srgbClr val="55BBEA"/>
                </a:solidFill>
                <a:effectLst/>
                <a:latin typeface="Minion Pro"/>
                <a:hlinkClick r:id="rId3"/>
              </a:rPr>
              <a:t>Debentures</a:t>
            </a:r>
            <a:r>
              <a:rPr lang="en-US" sz="3200" b="0" i="0" dirty="0">
                <a:effectLst/>
                <a:latin typeface="Minion Pro"/>
              </a:rPr>
              <a:t> are also offered to the public at large, like </a:t>
            </a:r>
            <a:r>
              <a:rPr lang="en-US" sz="3200" b="0" i="0" u="none" strike="noStrike" dirty="0">
                <a:solidFill>
                  <a:srgbClr val="55BBEA"/>
                </a:solidFill>
                <a:effectLst/>
                <a:latin typeface="Minion Pro"/>
                <a:hlinkClick r:id="rId4"/>
              </a:rPr>
              <a:t>equity shares</a:t>
            </a:r>
            <a:r>
              <a:rPr lang="en-US" sz="3200" b="0" i="0" dirty="0">
                <a:effectLst/>
                <a:latin typeface="Minion Pro"/>
              </a:rPr>
              <a:t>. </a:t>
            </a:r>
          </a:p>
          <a:p>
            <a:pPr marL="457200" indent="-457200" algn="just">
              <a:buFont typeface="Wingdings" panose="05000000000000000000" pitchFamily="2" charset="2"/>
              <a:buChar char="Ø"/>
            </a:pPr>
            <a:r>
              <a:rPr lang="en-US" sz="3200" b="0" i="0" dirty="0">
                <a:effectLst/>
                <a:latin typeface="Minion Pro"/>
              </a:rPr>
              <a:t>Debentures are actually the most common way for large companies to borrow money.</a:t>
            </a:r>
          </a:p>
          <a:p>
            <a:endParaRPr lang="en-IN" dirty="0"/>
          </a:p>
        </p:txBody>
      </p:sp>
    </p:spTree>
    <p:extLst>
      <p:ext uri="{BB962C8B-B14F-4D97-AF65-F5344CB8AC3E}">
        <p14:creationId xmlns:p14="http://schemas.microsoft.com/office/powerpoint/2010/main" val="3361650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D61F4D6-83F0-48A2-BDD2-CCCE6CF42C18}"/>
              </a:ext>
            </a:extLst>
          </p:cNvPr>
          <p:cNvSpPr>
            <a:spLocks noGrp="1"/>
          </p:cNvSpPr>
          <p:nvPr>
            <p:ph type="subTitle" idx="1"/>
          </p:nvPr>
        </p:nvSpPr>
        <p:spPr>
          <a:xfrm>
            <a:off x="-88777" y="168677"/>
            <a:ext cx="12144653" cy="6915704"/>
          </a:xfrm>
        </p:spPr>
        <p:txBody>
          <a:bodyPr/>
          <a:lstStyle/>
          <a:p>
            <a:pPr marL="342900" indent="-342900" algn="just">
              <a:buFont typeface="Wingdings" panose="05000000000000000000" pitchFamily="2" charset="2"/>
              <a:buChar char="Ø"/>
            </a:pPr>
            <a:r>
              <a:rPr lang="en-US" sz="2800" b="0" i="0" dirty="0">
                <a:effectLst/>
                <a:latin typeface="Minion Pro"/>
              </a:rPr>
              <a:t>Let us look at some important features of debentures that make them unique,</a:t>
            </a:r>
          </a:p>
          <a:p>
            <a:pPr marL="342900" indent="-342900" algn="just">
              <a:buFont typeface="Wingdings" panose="05000000000000000000" pitchFamily="2" charset="2"/>
              <a:buChar char="Ø"/>
            </a:pPr>
            <a:r>
              <a:rPr lang="en-US" sz="2800" b="0" i="0" dirty="0">
                <a:solidFill>
                  <a:srgbClr val="0B0B0B"/>
                </a:solidFill>
                <a:effectLst/>
                <a:latin typeface="Minion Pro"/>
              </a:rPr>
              <a:t>Debentures are instruments of debt, which means that debenture holders become creditors of the company</a:t>
            </a:r>
          </a:p>
          <a:p>
            <a:pPr marL="342900" indent="-342900" algn="just">
              <a:buFont typeface="Wingdings" panose="05000000000000000000" pitchFamily="2" charset="2"/>
              <a:buChar char="Ø"/>
            </a:pPr>
            <a:r>
              <a:rPr lang="en-US" sz="2800" b="0" i="0" dirty="0">
                <a:solidFill>
                  <a:srgbClr val="0B0B0B"/>
                </a:solidFill>
                <a:effectLst/>
                <a:latin typeface="Minion Pro"/>
              </a:rPr>
              <a:t>They are a certificate of </a:t>
            </a:r>
            <a:r>
              <a:rPr lang="en-US" sz="2800" b="0" i="0" u="none" strike="noStrike" dirty="0">
                <a:solidFill>
                  <a:srgbClr val="4A90E2"/>
                </a:solidFill>
                <a:effectLst/>
                <a:latin typeface="Minion Pro"/>
                <a:hlinkClick r:id="rId2"/>
              </a:rPr>
              <a:t>debt</a:t>
            </a:r>
            <a:r>
              <a:rPr lang="en-US" sz="2800" b="0" i="0" dirty="0">
                <a:solidFill>
                  <a:srgbClr val="0B0B0B"/>
                </a:solidFill>
                <a:effectLst/>
                <a:latin typeface="Minion Pro"/>
              </a:rPr>
              <a:t>, with the date of redemption and amount of repayment mentioned on it. This certificate is issued under the company seal and is known as a Debenture Deed</a:t>
            </a:r>
          </a:p>
          <a:p>
            <a:pPr marL="342900" indent="-342900" algn="just">
              <a:buFont typeface="Wingdings" panose="05000000000000000000" pitchFamily="2" charset="2"/>
              <a:buChar char="Ø"/>
            </a:pPr>
            <a:r>
              <a:rPr lang="en-US" sz="2800" b="0" i="0" dirty="0">
                <a:solidFill>
                  <a:srgbClr val="0B0B0B"/>
                </a:solidFill>
                <a:effectLst/>
                <a:latin typeface="Minion Pro"/>
              </a:rPr>
              <a:t>Debentures have a fixed </a:t>
            </a:r>
            <a:r>
              <a:rPr lang="en-US" sz="2800" b="0" i="0" u="none" strike="noStrike" dirty="0">
                <a:solidFill>
                  <a:srgbClr val="4A90E2"/>
                </a:solidFill>
                <a:effectLst/>
                <a:latin typeface="Minion Pro"/>
                <a:hlinkClick r:id="rId3"/>
              </a:rPr>
              <a:t>rate of interest</a:t>
            </a:r>
            <a:r>
              <a:rPr lang="en-US" sz="2800" b="0" i="0" dirty="0">
                <a:solidFill>
                  <a:srgbClr val="0B0B0B"/>
                </a:solidFill>
                <a:effectLst/>
                <a:latin typeface="Minion Pro"/>
              </a:rPr>
              <a:t>, and such interest amount is payable yearly or half-yearly</a:t>
            </a:r>
          </a:p>
          <a:p>
            <a:pPr marL="342900" indent="-342900" algn="just">
              <a:buFont typeface="Wingdings" panose="05000000000000000000" pitchFamily="2" charset="2"/>
              <a:buChar char="Ø"/>
            </a:pPr>
            <a:r>
              <a:rPr lang="en-US" sz="2800" b="0" i="0" dirty="0">
                <a:solidFill>
                  <a:srgbClr val="0B0B0B"/>
                </a:solidFill>
                <a:effectLst/>
                <a:latin typeface="Minion Pro"/>
              </a:rPr>
              <a:t>Debenture holders do not get any voting rights. This is because they are not instruments of equity, so debenture holders are not owners of the company, only creditors</a:t>
            </a:r>
          </a:p>
          <a:p>
            <a:pPr marL="342900" indent="-342900" algn="just">
              <a:buFont typeface="Wingdings" panose="05000000000000000000" pitchFamily="2" charset="2"/>
              <a:buChar char="Ø"/>
            </a:pPr>
            <a:r>
              <a:rPr lang="en-US" sz="2800" b="0" i="0" dirty="0">
                <a:solidFill>
                  <a:srgbClr val="0B0B0B"/>
                </a:solidFill>
                <a:effectLst/>
                <a:latin typeface="Minion Pro"/>
              </a:rPr>
              <a:t>The interest payable to these debenture holders is a charge against the profits of the company. So these payments have to be made even in case of a loss.</a:t>
            </a:r>
          </a:p>
          <a:p>
            <a:endParaRPr lang="en-IN" dirty="0"/>
          </a:p>
        </p:txBody>
      </p:sp>
    </p:spTree>
    <p:extLst>
      <p:ext uri="{BB962C8B-B14F-4D97-AF65-F5344CB8AC3E}">
        <p14:creationId xmlns:p14="http://schemas.microsoft.com/office/powerpoint/2010/main" val="413047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D0042F6-0B7D-489E-90A0-4A1FB1BBCAE4}"/>
              </a:ext>
            </a:extLst>
          </p:cNvPr>
          <p:cNvSpPr>
            <a:spLocks noGrp="1"/>
          </p:cNvSpPr>
          <p:nvPr>
            <p:ph type="subTitle" idx="1"/>
          </p:nvPr>
        </p:nvSpPr>
        <p:spPr>
          <a:xfrm>
            <a:off x="301841" y="213064"/>
            <a:ext cx="10366159" cy="6644936"/>
          </a:xfrm>
        </p:spPr>
        <p:txBody>
          <a:bodyPr/>
          <a:lstStyle/>
          <a:p>
            <a:pPr algn="l"/>
            <a:r>
              <a:rPr lang="en-US" b="0" i="0" dirty="0">
                <a:solidFill>
                  <a:srgbClr val="000000"/>
                </a:solidFill>
                <a:effectLst/>
                <a:latin typeface="Open Sans" panose="020B0606030504020204" pitchFamily="34" charset="0"/>
              </a:rPr>
              <a:t>Advantages of Debentures</a:t>
            </a:r>
          </a:p>
          <a:p>
            <a:pPr marL="457200" indent="-457200" algn="just">
              <a:buFont typeface="Wingdings" panose="05000000000000000000" pitchFamily="2" charset="2"/>
              <a:buChar char="Ø"/>
            </a:pPr>
            <a:r>
              <a:rPr lang="en-US" sz="2800" b="0" i="0" dirty="0">
                <a:solidFill>
                  <a:srgbClr val="0B0B0B"/>
                </a:solidFill>
                <a:effectLst/>
                <a:latin typeface="Minion Pro"/>
              </a:rPr>
              <a:t>One of the biggest advantages of debentures is that the company can get its required funds without diluting equity. Since debentures are a form of debt, the equity of the company remains unchanged.</a:t>
            </a:r>
          </a:p>
          <a:p>
            <a:pPr marL="457200" indent="-457200" algn="just">
              <a:buFont typeface="Wingdings" panose="05000000000000000000" pitchFamily="2" charset="2"/>
              <a:buChar char="Ø"/>
            </a:pPr>
            <a:r>
              <a:rPr lang="en-US" sz="2800" b="0" i="0" dirty="0">
                <a:solidFill>
                  <a:srgbClr val="0B0B0B"/>
                </a:solidFill>
                <a:effectLst/>
                <a:latin typeface="Minion Pro"/>
              </a:rPr>
              <a:t>Interest to be paid on debentures is a charge against profit for the company. But this also means it is a tax-deductible expense and is useful while </a:t>
            </a:r>
            <a:r>
              <a:rPr lang="en-US" sz="2800" b="0" i="0" u="none" strike="noStrike" dirty="0">
                <a:solidFill>
                  <a:srgbClr val="4A90E2"/>
                </a:solidFill>
                <a:effectLst/>
                <a:latin typeface="Minion Pro"/>
                <a:hlinkClick r:id="rId2"/>
              </a:rPr>
              <a:t>tax</a:t>
            </a:r>
            <a:r>
              <a:rPr lang="en-US" sz="2800" b="0" i="0" dirty="0">
                <a:solidFill>
                  <a:srgbClr val="0B0B0B"/>
                </a:solidFill>
                <a:effectLst/>
                <a:latin typeface="Minion Pro"/>
              </a:rPr>
              <a:t> planning</a:t>
            </a:r>
          </a:p>
          <a:p>
            <a:pPr marL="457200" indent="-457200" algn="just">
              <a:buFont typeface="Wingdings" panose="05000000000000000000" pitchFamily="2" charset="2"/>
              <a:buChar char="Ø"/>
            </a:pPr>
            <a:r>
              <a:rPr lang="en-US" sz="2800" b="0" i="0" dirty="0">
                <a:solidFill>
                  <a:srgbClr val="0B0B0B"/>
                </a:solidFill>
                <a:effectLst/>
                <a:latin typeface="Minion Pro"/>
              </a:rPr>
              <a:t>Debentures encourage long-term planning and funding. And compared to other forms of lending debentures tend to be cheaper.</a:t>
            </a:r>
          </a:p>
          <a:p>
            <a:pPr marL="457200" indent="-457200" algn="just">
              <a:buFont typeface="Wingdings" panose="05000000000000000000" pitchFamily="2" charset="2"/>
              <a:buChar char="Ø"/>
            </a:pPr>
            <a:r>
              <a:rPr lang="en-US" sz="2800" b="0" i="0" dirty="0">
                <a:solidFill>
                  <a:srgbClr val="0B0B0B"/>
                </a:solidFill>
                <a:effectLst/>
                <a:latin typeface="Minion Pro"/>
              </a:rPr>
              <a:t>Debenture holders bear very little risk since the loan is secured and the interest is payable even in the case of a loss to the company</a:t>
            </a:r>
          </a:p>
          <a:p>
            <a:pPr marL="457200" indent="-457200" algn="just">
              <a:buFont typeface="Wingdings" panose="05000000000000000000" pitchFamily="2" charset="2"/>
              <a:buChar char="Ø"/>
            </a:pPr>
            <a:r>
              <a:rPr lang="en-US" sz="2800" b="0" i="0" dirty="0">
                <a:solidFill>
                  <a:srgbClr val="0B0B0B"/>
                </a:solidFill>
                <a:effectLst/>
                <a:latin typeface="Minion Pro"/>
              </a:rPr>
              <a:t>At times of </a:t>
            </a:r>
            <a:r>
              <a:rPr lang="en-US" sz="2800" b="0" i="0" u="none" strike="noStrike" dirty="0">
                <a:solidFill>
                  <a:srgbClr val="4A90E2"/>
                </a:solidFill>
                <a:effectLst/>
                <a:latin typeface="Minion Pro"/>
                <a:hlinkClick r:id="rId3"/>
              </a:rPr>
              <a:t>inflation</a:t>
            </a:r>
            <a:r>
              <a:rPr lang="en-US" sz="2800" b="0" i="0" dirty="0">
                <a:solidFill>
                  <a:srgbClr val="0B0B0B"/>
                </a:solidFill>
                <a:effectLst/>
                <a:latin typeface="Minion Pro"/>
              </a:rPr>
              <a:t>, debentures are the preferred instrument to raise </a:t>
            </a:r>
            <a:r>
              <a:rPr lang="en-US" sz="2800" b="0" i="0" u="none" strike="noStrike" dirty="0">
                <a:solidFill>
                  <a:srgbClr val="4A90E2"/>
                </a:solidFill>
                <a:effectLst/>
                <a:latin typeface="Minion Pro"/>
                <a:hlinkClick r:id="rId4"/>
              </a:rPr>
              <a:t>funds</a:t>
            </a:r>
            <a:r>
              <a:rPr lang="en-US" sz="2800" b="0" i="0" dirty="0">
                <a:solidFill>
                  <a:srgbClr val="0B0B0B"/>
                </a:solidFill>
                <a:effectLst/>
                <a:latin typeface="Minion Pro"/>
              </a:rPr>
              <a:t> since they have a fixed rate of interest</a:t>
            </a:r>
          </a:p>
          <a:p>
            <a:endParaRPr lang="en-IN" dirty="0"/>
          </a:p>
        </p:txBody>
      </p:sp>
    </p:spTree>
    <p:extLst>
      <p:ext uri="{BB962C8B-B14F-4D97-AF65-F5344CB8AC3E}">
        <p14:creationId xmlns:p14="http://schemas.microsoft.com/office/powerpoint/2010/main" val="301681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0B7E05C-6FD5-4372-AB46-DC31D2671B88}"/>
              </a:ext>
            </a:extLst>
          </p:cNvPr>
          <p:cNvSpPr>
            <a:spLocks noGrp="1"/>
          </p:cNvSpPr>
          <p:nvPr>
            <p:ph type="subTitle" idx="1"/>
          </p:nvPr>
        </p:nvSpPr>
        <p:spPr>
          <a:xfrm>
            <a:off x="254492" y="297402"/>
            <a:ext cx="11937507" cy="6560598"/>
          </a:xfrm>
        </p:spPr>
        <p:txBody>
          <a:bodyPr/>
          <a:lstStyle/>
          <a:p>
            <a:pPr algn="l"/>
            <a:r>
              <a:rPr lang="en-US" b="0" i="0" dirty="0">
                <a:solidFill>
                  <a:srgbClr val="000000"/>
                </a:solidFill>
                <a:effectLst/>
                <a:latin typeface="Open Sans" panose="020B0606030504020204" pitchFamily="34" charset="0"/>
              </a:rPr>
              <a:t>Disadvantages of Debentures</a:t>
            </a:r>
          </a:p>
          <a:p>
            <a:pPr marL="342900" indent="-342900" algn="just">
              <a:buFont typeface="Wingdings" panose="05000000000000000000" pitchFamily="2" charset="2"/>
              <a:buChar char="Ø"/>
            </a:pPr>
            <a:r>
              <a:rPr lang="en-US" sz="3200" b="0" i="0" dirty="0">
                <a:solidFill>
                  <a:srgbClr val="0B0B0B"/>
                </a:solidFill>
                <a:effectLst/>
                <a:latin typeface="Minion Pro"/>
              </a:rPr>
              <a:t>The interest payable to debenture holders is a financial burden for the company. It is payable even in the event of a loss</a:t>
            </a:r>
          </a:p>
          <a:p>
            <a:pPr marL="342900" indent="-342900" algn="just">
              <a:buFont typeface="Wingdings" panose="05000000000000000000" pitchFamily="2" charset="2"/>
              <a:buChar char="Ø"/>
            </a:pPr>
            <a:r>
              <a:rPr lang="en-US" sz="3200" b="0" i="0" dirty="0">
                <a:solidFill>
                  <a:srgbClr val="0B0B0B"/>
                </a:solidFill>
                <a:effectLst/>
                <a:latin typeface="Minion Pro"/>
              </a:rPr>
              <a:t>While issuing debentures help a company trade on equity, it also makes it to dependent on debt. A skewed Debt-Equity Ratio is not good for the financial health of a company</a:t>
            </a:r>
          </a:p>
          <a:p>
            <a:pPr marL="342900" indent="-342900" algn="just">
              <a:buFont typeface="Wingdings" panose="05000000000000000000" pitchFamily="2" charset="2"/>
              <a:buChar char="Ø"/>
            </a:pPr>
            <a:r>
              <a:rPr lang="en-US" sz="3200" b="0" i="0" dirty="0">
                <a:solidFill>
                  <a:srgbClr val="0B0B0B"/>
                </a:solidFill>
                <a:effectLst/>
                <a:latin typeface="Minion Pro"/>
              </a:rPr>
              <a:t>Redemption of debentures is a significant cash outflow for the company which can imbalance its liquidity</a:t>
            </a:r>
          </a:p>
          <a:p>
            <a:pPr marL="342900" indent="-342900" algn="just">
              <a:buFont typeface="Wingdings" panose="05000000000000000000" pitchFamily="2" charset="2"/>
              <a:buChar char="Ø"/>
            </a:pPr>
            <a:r>
              <a:rPr lang="en-US" sz="3200" b="0" i="0" dirty="0">
                <a:solidFill>
                  <a:srgbClr val="0B0B0B"/>
                </a:solidFill>
                <a:effectLst/>
                <a:latin typeface="Minion Pro"/>
              </a:rPr>
              <a:t>During a depression, when profits are declining, debentures can prove to be very expensive due to their fixed interest rate</a:t>
            </a:r>
          </a:p>
          <a:p>
            <a:endParaRPr lang="en-IN" dirty="0"/>
          </a:p>
        </p:txBody>
      </p:sp>
    </p:spTree>
    <p:extLst>
      <p:ext uri="{BB962C8B-B14F-4D97-AF65-F5344CB8AC3E}">
        <p14:creationId xmlns:p14="http://schemas.microsoft.com/office/powerpoint/2010/main" val="1223779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19A4298-4424-45F6-B920-C0B04F5391A8}"/>
              </a:ext>
            </a:extLst>
          </p:cNvPr>
          <p:cNvSpPr>
            <a:spLocks noGrp="1"/>
          </p:cNvSpPr>
          <p:nvPr>
            <p:ph type="subTitle" idx="1"/>
          </p:nvPr>
        </p:nvSpPr>
        <p:spPr>
          <a:xfrm>
            <a:off x="284085" y="275209"/>
            <a:ext cx="11907915" cy="6738152"/>
          </a:xfrm>
        </p:spPr>
        <p:txBody>
          <a:bodyPr>
            <a:normAutofit/>
          </a:bodyPr>
          <a:lstStyle/>
          <a:p>
            <a:pPr algn="l"/>
            <a:r>
              <a:rPr lang="en-US" b="1" i="0" dirty="0">
                <a:solidFill>
                  <a:srgbClr val="000000"/>
                </a:solidFill>
                <a:effectLst/>
                <a:latin typeface="Open Sans" panose="020B0606030504020204" pitchFamily="34" charset="0"/>
              </a:rPr>
              <a:t>Types of Debentures</a:t>
            </a:r>
          </a:p>
          <a:p>
            <a:pPr marL="342900" indent="-342900" algn="just">
              <a:buFont typeface="Wingdings" panose="05000000000000000000" pitchFamily="2" charset="2"/>
              <a:buChar char="Ø"/>
            </a:pPr>
            <a:r>
              <a:rPr lang="en-US" b="0" i="0" dirty="0">
                <a:effectLst/>
                <a:latin typeface="Minion Pro"/>
              </a:rPr>
              <a:t>There are various types of debentures that a company can issue, based on security, tenure, convertibility etc. Let us take a look at some of these types of debentures.</a:t>
            </a:r>
          </a:p>
          <a:p>
            <a:pPr marL="342900" indent="-342900" algn="just">
              <a:buFont typeface="Wingdings" panose="05000000000000000000" pitchFamily="2" charset="2"/>
              <a:buChar char="Ø"/>
            </a:pPr>
            <a:r>
              <a:rPr lang="en-US" b="1" i="1" dirty="0">
                <a:solidFill>
                  <a:srgbClr val="0B0B0B"/>
                </a:solidFill>
                <a:effectLst/>
                <a:latin typeface="Minion Pro"/>
              </a:rPr>
              <a:t>Secured Debentures:</a:t>
            </a:r>
            <a:r>
              <a:rPr lang="en-US" b="0" i="0" dirty="0">
                <a:solidFill>
                  <a:srgbClr val="0B0B0B"/>
                </a:solidFill>
                <a:effectLst/>
                <a:latin typeface="Minion Pro"/>
              </a:rPr>
              <a:t> These are debentures that are secured against an asset/</a:t>
            </a:r>
            <a:r>
              <a:rPr lang="en-US" b="0" i="0" u="none" strike="noStrike" dirty="0">
                <a:solidFill>
                  <a:srgbClr val="4A90E2"/>
                </a:solidFill>
                <a:effectLst/>
                <a:latin typeface="Minion Pro"/>
                <a:hlinkClick r:id="rId2"/>
              </a:rPr>
              <a:t>assets</a:t>
            </a:r>
            <a:r>
              <a:rPr lang="en-US" b="0" i="0" dirty="0">
                <a:solidFill>
                  <a:srgbClr val="0B0B0B"/>
                </a:solidFill>
                <a:effectLst/>
                <a:latin typeface="Minion Pro"/>
              </a:rPr>
              <a:t> of the company. This means a charge is created on such an asset in case of default in repayment of such debentures. </a:t>
            </a:r>
          </a:p>
          <a:p>
            <a:pPr marL="342900" indent="-342900" algn="just">
              <a:buFont typeface="Wingdings" panose="05000000000000000000" pitchFamily="2" charset="2"/>
              <a:buChar char="Ø"/>
            </a:pPr>
            <a:r>
              <a:rPr lang="en-US" b="0" i="0" dirty="0">
                <a:solidFill>
                  <a:srgbClr val="0B0B0B"/>
                </a:solidFill>
                <a:effectLst/>
                <a:latin typeface="Minion Pro"/>
              </a:rPr>
              <a:t>So in case, the company does not have enough funds to repay such debentures, the said asset will be sold to pay such a loan. </a:t>
            </a:r>
          </a:p>
          <a:p>
            <a:pPr marL="342900" indent="-342900" algn="just">
              <a:buFont typeface="Wingdings" panose="05000000000000000000" pitchFamily="2" charset="2"/>
              <a:buChar char="Ø"/>
            </a:pPr>
            <a:r>
              <a:rPr lang="en-US" b="0" i="0" dirty="0">
                <a:solidFill>
                  <a:srgbClr val="0B0B0B"/>
                </a:solidFill>
                <a:effectLst/>
                <a:latin typeface="Minion Pro"/>
              </a:rPr>
              <a:t>The charge may be fixed, i.e. against a specific assets/assets or floating, i.e. against all assets of the firm.</a:t>
            </a:r>
          </a:p>
          <a:p>
            <a:pPr marL="342900" indent="-342900" algn="just">
              <a:buFont typeface="Wingdings" panose="05000000000000000000" pitchFamily="2" charset="2"/>
              <a:buChar char="Ø"/>
            </a:pPr>
            <a:r>
              <a:rPr lang="en-US" b="1" i="1" dirty="0">
                <a:solidFill>
                  <a:srgbClr val="0B0B0B"/>
                </a:solidFill>
                <a:effectLst/>
                <a:latin typeface="Minion Pro"/>
              </a:rPr>
              <a:t>Unsecured Debentures:</a:t>
            </a:r>
            <a:r>
              <a:rPr lang="en-US" b="0" i="0" dirty="0">
                <a:solidFill>
                  <a:srgbClr val="0B0B0B"/>
                </a:solidFill>
                <a:effectLst/>
                <a:latin typeface="Minion Pro"/>
              </a:rPr>
              <a:t> These are not secured by any charge against the assets of the company, neither fixed nor floating. Normally such kinds of debentures are not issued by companies in India.</a:t>
            </a:r>
          </a:p>
          <a:p>
            <a:pPr marL="342900" indent="-342900" algn="just">
              <a:buFont typeface="Wingdings" panose="05000000000000000000" pitchFamily="2" charset="2"/>
              <a:buChar char="Ø"/>
            </a:pPr>
            <a:r>
              <a:rPr lang="en-US" b="1" i="1" dirty="0">
                <a:solidFill>
                  <a:srgbClr val="0B0B0B"/>
                </a:solidFill>
                <a:effectLst/>
                <a:latin typeface="Minion Pro"/>
              </a:rPr>
              <a:t>Redeemable Debentures</a:t>
            </a:r>
            <a:r>
              <a:rPr lang="en-US" b="0" i="0" dirty="0">
                <a:solidFill>
                  <a:srgbClr val="0B0B0B"/>
                </a:solidFill>
                <a:effectLst/>
                <a:latin typeface="Minion Pro"/>
              </a:rPr>
              <a:t>: These debentures are payable at the expiry of their term. </a:t>
            </a:r>
          </a:p>
          <a:p>
            <a:pPr marL="342900" indent="-342900" algn="just">
              <a:buFont typeface="Wingdings" panose="05000000000000000000" pitchFamily="2" charset="2"/>
              <a:buChar char="Ø"/>
            </a:pPr>
            <a:r>
              <a:rPr lang="en-US" b="0" i="0" dirty="0">
                <a:solidFill>
                  <a:srgbClr val="0B0B0B"/>
                </a:solidFill>
                <a:effectLst/>
                <a:latin typeface="Minion Pro"/>
              </a:rPr>
              <a:t>Which means at the end of a specified period they are payable, either in the lump sum or in installments over a time period. </a:t>
            </a:r>
          </a:p>
          <a:p>
            <a:pPr marL="342900" indent="-342900" algn="just">
              <a:buFont typeface="Wingdings" panose="05000000000000000000" pitchFamily="2" charset="2"/>
              <a:buChar char="Ø"/>
            </a:pPr>
            <a:r>
              <a:rPr lang="en-US" b="0" i="0" dirty="0">
                <a:solidFill>
                  <a:srgbClr val="0B0B0B"/>
                </a:solidFill>
                <a:effectLst/>
                <a:latin typeface="Minion Pro"/>
              </a:rPr>
              <a:t>Such debentures can be redeemable at par, premium or at a discount.</a:t>
            </a:r>
          </a:p>
          <a:p>
            <a:endParaRPr lang="en-IN" dirty="0"/>
          </a:p>
        </p:txBody>
      </p:sp>
    </p:spTree>
    <p:extLst>
      <p:ext uri="{BB962C8B-B14F-4D97-AF65-F5344CB8AC3E}">
        <p14:creationId xmlns:p14="http://schemas.microsoft.com/office/powerpoint/2010/main" val="1579068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68421EC-0520-4CF0-88EE-50C54BF721AC}"/>
              </a:ext>
            </a:extLst>
          </p:cNvPr>
          <p:cNvSpPr>
            <a:spLocks noGrp="1"/>
          </p:cNvSpPr>
          <p:nvPr>
            <p:ph type="subTitle" idx="1"/>
          </p:nvPr>
        </p:nvSpPr>
        <p:spPr>
          <a:xfrm>
            <a:off x="292962" y="159799"/>
            <a:ext cx="11899037" cy="6698202"/>
          </a:xfrm>
        </p:spPr>
        <p:txBody>
          <a:bodyPr>
            <a:normAutofit lnSpcReduction="10000"/>
          </a:bodyPr>
          <a:lstStyle/>
          <a:p>
            <a:pPr marL="342900" indent="-342900" algn="just">
              <a:buFont typeface="Wingdings" panose="05000000000000000000" pitchFamily="2" charset="2"/>
              <a:buChar char="Ø"/>
            </a:pPr>
            <a:r>
              <a:rPr lang="en-US" sz="2800" b="0" i="0" dirty="0">
                <a:solidFill>
                  <a:srgbClr val="0B0B0B"/>
                </a:solidFill>
                <a:effectLst/>
                <a:latin typeface="Minion Pro"/>
              </a:rPr>
              <a:t>There is no fixed date at which they become payable. </a:t>
            </a:r>
          </a:p>
          <a:p>
            <a:pPr marL="342900" indent="-342900" algn="just">
              <a:buFont typeface="Wingdings" panose="05000000000000000000" pitchFamily="2" charset="2"/>
              <a:buChar char="Ø"/>
            </a:pPr>
            <a:r>
              <a:rPr lang="en-US" sz="2800" b="1" i="1" dirty="0">
                <a:solidFill>
                  <a:srgbClr val="0B0B0B"/>
                </a:solidFill>
                <a:effectLst/>
                <a:latin typeface="Minion Pro"/>
              </a:rPr>
              <a:t>Irredeemable Debentures:</a:t>
            </a:r>
            <a:r>
              <a:rPr lang="en-US" sz="2800" b="0" i="0" dirty="0">
                <a:solidFill>
                  <a:srgbClr val="0B0B0B"/>
                </a:solidFill>
                <a:effectLst/>
                <a:latin typeface="Minion Pro"/>
              </a:rPr>
              <a:t> Such debentures are perpetual in </a:t>
            </a:r>
            <a:r>
              <a:rPr lang="en-US" sz="2800" b="0" i="0" u="none" strike="noStrike" dirty="0">
                <a:solidFill>
                  <a:srgbClr val="4A90E2"/>
                </a:solidFill>
                <a:effectLst/>
                <a:latin typeface="Minion Pro"/>
                <a:hlinkClick r:id="rId2"/>
              </a:rPr>
              <a:t>nature</a:t>
            </a:r>
            <a:r>
              <a:rPr lang="en-US" sz="2800" b="0" i="0" dirty="0">
                <a:solidFill>
                  <a:srgbClr val="0B0B0B"/>
                </a:solidFill>
                <a:effectLst/>
                <a:latin typeface="Minion Pro"/>
              </a:rPr>
              <a:t>. </a:t>
            </a:r>
          </a:p>
          <a:p>
            <a:pPr marL="342900" indent="-342900" algn="just">
              <a:buFont typeface="Wingdings" panose="05000000000000000000" pitchFamily="2" charset="2"/>
              <a:buChar char="Ø"/>
            </a:pPr>
            <a:r>
              <a:rPr lang="en-US" sz="2800" b="0" i="0" dirty="0">
                <a:solidFill>
                  <a:srgbClr val="0B0B0B"/>
                </a:solidFill>
                <a:effectLst/>
                <a:latin typeface="Minion Pro"/>
              </a:rPr>
              <a:t>They are redeemable when the company goes into the liquidation process. </a:t>
            </a:r>
          </a:p>
          <a:p>
            <a:pPr marL="342900" indent="-342900" algn="just">
              <a:buFont typeface="Wingdings" panose="05000000000000000000" pitchFamily="2" charset="2"/>
              <a:buChar char="Ø"/>
            </a:pPr>
            <a:r>
              <a:rPr lang="en-US" sz="2800" b="0" i="0" dirty="0">
                <a:solidFill>
                  <a:srgbClr val="0B0B0B"/>
                </a:solidFill>
                <a:effectLst/>
                <a:latin typeface="Minion Pro"/>
              </a:rPr>
              <a:t>Or they can be redeemable after an unspecified long time interval.</a:t>
            </a:r>
          </a:p>
          <a:p>
            <a:pPr marL="342900" indent="-342900" algn="just">
              <a:buFont typeface="Wingdings" panose="05000000000000000000" pitchFamily="2" charset="2"/>
              <a:buChar char="Ø"/>
            </a:pPr>
            <a:r>
              <a:rPr lang="en-US" sz="2800" b="1" i="1" dirty="0">
                <a:solidFill>
                  <a:srgbClr val="0B0B0B"/>
                </a:solidFill>
                <a:effectLst/>
                <a:latin typeface="Minion Pro"/>
              </a:rPr>
              <a:t>Fully Convertible Debentures:</a:t>
            </a:r>
            <a:r>
              <a:rPr lang="en-US" sz="2800" b="0" i="0" dirty="0">
                <a:solidFill>
                  <a:srgbClr val="0B0B0B"/>
                </a:solidFill>
                <a:effectLst/>
                <a:latin typeface="Minion Pro"/>
              </a:rPr>
              <a:t> These shares can be converted to equity shares at the option of the debenture holder.</a:t>
            </a:r>
          </a:p>
          <a:p>
            <a:pPr marL="342900" indent="-342900" algn="just">
              <a:buFont typeface="Wingdings" panose="05000000000000000000" pitchFamily="2" charset="2"/>
              <a:buChar char="Ø"/>
            </a:pPr>
            <a:r>
              <a:rPr lang="en-US" sz="2800" b="0" i="0" dirty="0">
                <a:solidFill>
                  <a:srgbClr val="0B0B0B"/>
                </a:solidFill>
                <a:effectLst/>
                <a:latin typeface="Minion Pro"/>
              </a:rPr>
              <a:t> So if he wishes then after a specified time interval all his shares will be converted to </a:t>
            </a:r>
            <a:r>
              <a:rPr lang="en-US" sz="2800" b="0" i="0" u="none" strike="noStrike" dirty="0">
                <a:solidFill>
                  <a:srgbClr val="4A90E2"/>
                </a:solidFill>
                <a:effectLst/>
                <a:latin typeface="Minion Pro"/>
                <a:hlinkClick r:id="rId3"/>
              </a:rPr>
              <a:t>equity shares</a:t>
            </a:r>
            <a:r>
              <a:rPr lang="en-US" sz="2800" b="0" i="0" dirty="0">
                <a:solidFill>
                  <a:srgbClr val="0B0B0B"/>
                </a:solidFill>
                <a:effectLst/>
                <a:latin typeface="Minion Pro"/>
              </a:rPr>
              <a:t> and he will become a shareholder.</a:t>
            </a:r>
          </a:p>
          <a:p>
            <a:pPr marL="342900" indent="-342900" algn="just">
              <a:buFont typeface="Wingdings" panose="05000000000000000000" pitchFamily="2" charset="2"/>
              <a:buChar char="Ø"/>
            </a:pPr>
            <a:r>
              <a:rPr lang="en-US" sz="2800" b="1" i="1" dirty="0">
                <a:solidFill>
                  <a:srgbClr val="0B0B0B"/>
                </a:solidFill>
                <a:effectLst/>
                <a:latin typeface="Minion Pro"/>
              </a:rPr>
              <a:t>Partly Convertible Debentures</a:t>
            </a:r>
            <a:r>
              <a:rPr lang="en-US" sz="2800" b="0" i="0" dirty="0">
                <a:solidFill>
                  <a:srgbClr val="0B0B0B"/>
                </a:solidFill>
                <a:effectLst/>
                <a:latin typeface="Minion Pro"/>
              </a:rPr>
              <a:t>: Here the holders of such debentures are given the option to partially convert their debentures to shares. </a:t>
            </a:r>
          </a:p>
          <a:p>
            <a:pPr marL="342900" indent="-342900" algn="just">
              <a:buFont typeface="Wingdings" panose="05000000000000000000" pitchFamily="2" charset="2"/>
              <a:buChar char="Ø"/>
            </a:pPr>
            <a:r>
              <a:rPr lang="en-US" sz="2800" b="0" i="0" dirty="0">
                <a:solidFill>
                  <a:srgbClr val="0B0B0B"/>
                </a:solidFill>
                <a:effectLst/>
                <a:latin typeface="Minion Pro"/>
              </a:rPr>
              <a:t>If he opts for the conversion, he will be both a creditor and a shareholder of the company.</a:t>
            </a:r>
          </a:p>
          <a:p>
            <a:pPr marL="342900" indent="-342900" algn="just">
              <a:buFont typeface="Wingdings" panose="05000000000000000000" pitchFamily="2" charset="2"/>
              <a:buChar char="Ø"/>
            </a:pPr>
            <a:r>
              <a:rPr lang="en-US" sz="2800" b="1" i="1" dirty="0">
                <a:solidFill>
                  <a:srgbClr val="0B0B0B"/>
                </a:solidFill>
                <a:effectLst/>
                <a:latin typeface="Minion Pro"/>
              </a:rPr>
              <a:t>Non-Convertible Debentures</a:t>
            </a:r>
            <a:r>
              <a:rPr lang="en-US" sz="2800" b="0" i="0" dirty="0">
                <a:solidFill>
                  <a:srgbClr val="0B0B0B"/>
                </a:solidFill>
                <a:effectLst/>
                <a:latin typeface="Minion Pro"/>
              </a:rPr>
              <a:t>: As the name suggests such debentures do not have an option to be converted to shares or any kind of equity.</a:t>
            </a:r>
          </a:p>
          <a:p>
            <a:pPr marL="342900" indent="-342900" algn="just">
              <a:buFont typeface="Wingdings" panose="05000000000000000000" pitchFamily="2" charset="2"/>
              <a:buChar char="Ø"/>
            </a:pPr>
            <a:r>
              <a:rPr lang="en-US" sz="2800" b="0" i="0" dirty="0">
                <a:solidFill>
                  <a:srgbClr val="0B0B0B"/>
                </a:solidFill>
                <a:effectLst/>
                <a:latin typeface="Minion Pro"/>
              </a:rPr>
              <a:t> These debentures will remain so till their maturity, no conversion will take place. These are the most common type of debentures.</a:t>
            </a:r>
          </a:p>
          <a:p>
            <a:endParaRPr lang="en-IN" dirty="0"/>
          </a:p>
        </p:txBody>
      </p:sp>
    </p:spTree>
    <p:extLst>
      <p:ext uri="{BB962C8B-B14F-4D97-AF65-F5344CB8AC3E}">
        <p14:creationId xmlns:p14="http://schemas.microsoft.com/office/powerpoint/2010/main" val="2292710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0934FC7-3A86-4B80-B72A-EB8B35C4B1EF}"/>
              </a:ext>
            </a:extLst>
          </p:cNvPr>
          <p:cNvSpPr>
            <a:spLocks noGrp="1"/>
          </p:cNvSpPr>
          <p:nvPr>
            <p:ph type="subTitle" idx="1"/>
          </p:nvPr>
        </p:nvSpPr>
        <p:spPr>
          <a:xfrm>
            <a:off x="559293" y="310718"/>
            <a:ext cx="10108707" cy="6294268"/>
          </a:xfrm>
        </p:spPr>
        <p:txBody>
          <a:bodyPr/>
          <a:lstStyle/>
          <a:p>
            <a:pPr algn="l"/>
            <a:r>
              <a:rPr lang="en-US" b="0" i="0" dirty="0">
                <a:solidFill>
                  <a:srgbClr val="111111"/>
                </a:solidFill>
                <a:effectLst/>
                <a:latin typeface="Cabin-semi-bold"/>
              </a:rPr>
              <a:t>What Is a Bond?</a:t>
            </a:r>
          </a:p>
          <a:p>
            <a:pPr marL="342900" indent="-342900" algn="just">
              <a:buFont typeface="Wingdings" panose="05000000000000000000" pitchFamily="2" charset="2"/>
              <a:buChar char="Ø"/>
            </a:pPr>
            <a:r>
              <a:rPr lang="en-US" sz="2800" b="0" i="0" dirty="0">
                <a:solidFill>
                  <a:srgbClr val="111111"/>
                </a:solidFill>
                <a:effectLst/>
                <a:latin typeface="SourceSansPro"/>
              </a:rPr>
              <a:t>A bond is a </a:t>
            </a:r>
            <a:r>
              <a:rPr lang="en-US" sz="2800" b="0" i="0" u="sng" dirty="0">
                <a:solidFill>
                  <a:srgbClr val="2C40D0"/>
                </a:solidFill>
                <a:effectLst/>
                <a:latin typeface="SourceSansPro"/>
                <a:hlinkClick r:id="rId2"/>
              </a:rPr>
              <a:t>fixed-income instrument</a:t>
            </a:r>
            <a:r>
              <a:rPr lang="en-US" sz="2800" b="0" i="0" dirty="0">
                <a:solidFill>
                  <a:srgbClr val="111111"/>
                </a:solidFill>
                <a:effectLst/>
                <a:latin typeface="SourceSansPro"/>
              </a:rPr>
              <a:t> that represents a loan made by an investor to a borrower (typically corporate or governmental).</a:t>
            </a:r>
          </a:p>
          <a:p>
            <a:pPr marL="342900" indent="-342900" algn="just">
              <a:buFont typeface="Wingdings" panose="05000000000000000000" pitchFamily="2" charset="2"/>
              <a:buChar char="Ø"/>
            </a:pPr>
            <a:r>
              <a:rPr lang="en-US" sz="2800" b="0" i="0" dirty="0">
                <a:solidFill>
                  <a:srgbClr val="111111"/>
                </a:solidFill>
                <a:effectLst/>
                <a:latin typeface="SourceSansPro"/>
              </a:rPr>
              <a:t> A bond could be thought of as an </a:t>
            </a:r>
            <a:r>
              <a:rPr lang="en-US" sz="2800" b="0" i="0" u="sng" dirty="0">
                <a:solidFill>
                  <a:srgbClr val="2C40D0"/>
                </a:solidFill>
                <a:effectLst/>
                <a:latin typeface="SourceSansPro"/>
                <a:hlinkClick r:id="rId3"/>
              </a:rPr>
              <a:t>I.O.U.</a:t>
            </a:r>
            <a:r>
              <a:rPr lang="en-US" sz="2800" b="0" i="0" dirty="0">
                <a:solidFill>
                  <a:srgbClr val="111111"/>
                </a:solidFill>
                <a:effectLst/>
                <a:latin typeface="SourceSansPro"/>
              </a:rPr>
              <a:t> between the </a:t>
            </a:r>
            <a:r>
              <a:rPr lang="en-US" sz="2800" b="0" i="0" u="sng" dirty="0">
                <a:solidFill>
                  <a:srgbClr val="2C40D0"/>
                </a:solidFill>
                <a:effectLst/>
                <a:latin typeface="SourceSansPro"/>
                <a:hlinkClick r:id="rId4"/>
              </a:rPr>
              <a:t>lender</a:t>
            </a:r>
            <a:r>
              <a:rPr lang="en-US" sz="2800" b="0" i="0" dirty="0">
                <a:solidFill>
                  <a:srgbClr val="111111"/>
                </a:solidFill>
                <a:effectLst/>
                <a:latin typeface="SourceSansPro"/>
              </a:rPr>
              <a:t> and borrower that includes the details of the loan and its payments. </a:t>
            </a:r>
          </a:p>
          <a:p>
            <a:pPr marL="342900" indent="-342900" algn="just">
              <a:buFont typeface="Wingdings" panose="05000000000000000000" pitchFamily="2" charset="2"/>
              <a:buChar char="Ø"/>
            </a:pPr>
            <a:r>
              <a:rPr lang="en-US" sz="2800" b="0" i="0" dirty="0">
                <a:solidFill>
                  <a:srgbClr val="111111"/>
                </a:solidFill>
                <a:effectLst/>
                <a:latin typeface="SourceSansPro"/>
              </a:rPr>
              <a:t>Bonds are used by companies, municipalities, states, and sovereign governments to finance projects and operations. </a:t>
            </a:r>
          </a:p>
          <a:p>
            <a:pPr marL="342900" indent="-342900" algn="just">
              <a:buFont typeface="Wingdings" panose="05000000000000000000" pitchFamily="2" charset="2"/>
              <a:buChar char="Ø"/>
            </a:pPr>
            <a:r>
              <a:rPr lang="en-US" sz="2800" b="0" i="0" dirty="0">
                <a:solidFill>
                  <a:srgbClr val="111111"/>
                </a:solidFill>
                <a:effectLst/>
                <a:latin typeface="SourceSansPro"/>
              </a:rPr>
              <a:t>Owners of bonds are debtholders, or creditors, of the issuer.</a:t>
            </a:r>
          </a:p>
          <a:p>
            <a:pPr marL="342900" indent="-342900" algn="just">
              <a:buFont typeface="Wingdings" panose="05000000000000000000" pitchFamily="2" charset="2"/>
              <a:buChar char="Ø"/>
            </a:pPr>
            <a:r>
              <a:rPr lang="en-US" sz="2800" b="0" i="0" dirty="0">
                <a:solidFill>
                  <a:srgbClr val="111111"/>
                </a:solidFill>
                <a:effectLst/>
                <a:latin typeface="SourceSansPro"/>
              </a:rPr>
              <a:t>Bond details include the end date when the </a:t>
            </a:r>
            <a:r>
              <a:rPr lang="en-US" sz="2800" b="0" i="0" u="sng" dirty="0">
                <a:solidFill>
                  <a:srgbClr val="2C40D0"/>
                </a:solidFill>
                <a:effectLst/>
                <a:latin typeface="SourceSansPro"/>
                <a:hlinkClick r:id="rId5"/>
              </a:rPr>
              <a:t>principal</a:t>
            </a:r>
            <a:r>
              <a:rPr lang="en-US" sz="2800" b="0" i="0" dirty="0">
                <a:solidFill>
                  <a:srgbClr val="111111"/>
                </a:solidFill>
                <a:effectLst/>
                <a:latin typeface="SourceSansPro"/>
              </a:rPr>
              <a:t> of the loan is due to be paid to the bond owner and usually include the terms for </a:t>
            </a:r>
            <a:r>
              <a:rPr lang="en-US" sz="2800" b="0" i="0" u="sng" dirty="0">
                <a:solidFill>
                  <a:srgbClr val="2C40D0"/>
                </a:solidFill>
                <a:effectLst/>
                <a:latin typeface="SourceSansPro"/>
                <a:hlinkClick r:id="rId6"/>
              </a:rPr>
              <a:t>variable</a:t>
            </a:r>
            <a:r>
              <a:rPr lang="en-US" sz="2800" b="0" i="0" dirty="0">
                <a:solidFill>
                  <a:srgbClr val="111111"/>
                </a:solidFill>
                <a:effectLst/>
                <a:latin typeface="SourceSansPro"/>
              </a:rPr>
              <a:t> or </a:t>
            </a:r>
            <a:r>
              <a:rPr lang="en-US" sz="2800" b="0" i="0" u="sng" dirty="0">
                <a:solidFill>
                  <a:srgbClr val="2C40D0"/>
                </a:solidFill>
                <a:effectLst/>
                <a:latin typeface="SourceSansPro"/>
                <a:hlinkClick r:id="rId7"/>
              </a:rPr>
              <a:t>fixed interest</a:t>
            </a:r>
            <a:r>
              <a:rPr lang="en-US" sz="2800" b="0" i="0" dirty="0">
                <a:solidFill>
                  <a:srgbClr val="111111"/>
                </a:solidFill>
                <a:effectLst/>
                <a:latin typeface="SourceSansPro"/>
              </a:rPr>
              <a:t> payments made by the borrower</a:t>
            </a:r>
            <a:endParaRPr lang="en-IN" sz="2800" dirty="0"/>
          </a:p>
        </p:txBody>
      </p:sp>
    </p:spTree>
    <p:extLst>
      <p:ext uri="{BB962C8B-B14F-4D97-AF65-F5344CB8AC3E}">
        <p14:creationId xmlns:p14="http://schemas.microsoft.com/office/powerpoint/2010/main" val="2911396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0F14D72-905B-414C-9BFD-0372E239DB16}"/>
              </a:ext>
            </a:extLst>
          </p:cNvPr>
          <p:cNvSpPr>
            <a:spLocks noGrp="1"/>
          </p:cNvSpPr>
          <p:nvPr>
            <p:ph type="subTitle" idx="1"/>
          </p:nvPr>
        </p:nvSpPr>
        <p:spPr>
          <a:xfrm>
            <a:off x="186431" y="426127"/>
            <a:ext cx="10481569" cy="6693763"/>
          </a:xfrm>
        </p:spPr>
        <p:txBody>
          <a:bodyPr/>
          <a:lstStyle/>
          <a:p>
            <a:pPr marL="342900" indent="-342900" algn="just">
              <a:buFont typeface="Wingdings" panose="05000000000000000000" pitchFamily="2" charset="2"/>
              <a:buChar char="Ø"/>
            </a:pPr>
            <a:r>
              <a:rPr lang="en-US" b="0" i="0" dirty="0">
                <a:solidFill>
                  <a:srgbClr val="111111"/>
                </a:solidFill>
                <a:effectLst/>
                <a:latin typeface="Cabin-semi-bold"/>
              </a:rPr>
              <a:t>Characteristics of Bonds</a:t>
            </a:r>
          </a:p>
          <a:p>
            <a:pPr marL="342900" indent="-342900" algn="just">
              <a:buFont typeface="Wingdings" panose="05000000000000000000" pitchFamily="2" charset="2"/>
              <a:buChar char="Ø"/>
            </a:pPr>
            <a:r>
              <a:rPr lang="en-US" b="0" i="0" dirty="0">
                <a:solidFill>
                  <a:srgbClr val="111111"/>
                </a:solidFill>
                <a:effectLst/>
                <a:latin typeface="SourceSansPro"/>
              </a:rPr>
              <a:t>Most bonds share some common basic characteristics including:</a:t>
            </a:r>
          </a:p>
          <a:p>
            <a:pPr marL="342900" indent="-342900" algn="just">
              <a:buFont typeface="Wingdings" panose="05000000000000000000" pitchFamily="2" charset="2"/>
              <a:buChar char="Ø"/>
            </a:pPr>
            <a:r>
              <a:rPr lang="en-US" b="1" i="0" dirty="0">
                <a:solidFill>
                  <a:srgbClr val="111111"/>
                </a:solidFill>
                <a:effectLst/>
                <a:latin typeface="Cabin-semi-bold"/>
              </a:rPr>
              <a:t>Face value</a:t>
            </a:r>
            <a:r>
              <a:rPr lang="en-US" b="0" i="0" dirty="0">
                <a:solidFill>
                  <a:srgbClr val="111111"/>
                </a:solidFill>
                <a:effectLst/>
                <a:latin typeface="SourceSansPro"/>
              </a:rPr>
              <a:t> is the money amount the bond will be worth at maturity; </a:t>
            </a:r>
          </a:p>
          <a:p>
            <a:pPr marL="342900" indent="-342900" algn="just">
              <a:buFont typeface="Wingdings" panose="05000000000000000000" pitchFamily="2" charset="2"/>
              <a:buChar char="Ø"/>
            </a:pPr>
            <a:r>
              <a:rPr lang="en-US" b="0" i="0" dirty="0">
                <a:solidFill>
                  <a:srgbClr val="111111"/>
                </a:solidFill>
                <a:effectLst/>
                <a:latin typeface="SourceSansPro"/>
              </a:rPr>
              <a:t>it is also the reference amount the bond issuer uses when calculating interest payments. For example, say an investor purchases a bond at a premium of $1,090, and another investor buys the same bond later when it is trading at a discount for $980. When the bond matures, both investors will receive the $1,000 face value of the bond.</a:t>
            </a:r>
          </a:p>
          <a:p>
            <a:pPr marL="342900" indent="-342900" algn="just">
              <a:buFont typeface="Wingdings" panose="05000000000000000000" pitchFamily="2" charset="2"/>
              <a:buChar char="Ø"/>
            </a:pPr>
            <a:r>
              <a:rPr lang="en-US" b="1" i="0" dirty="0">
                <a:solidFill>
                  <a:srgbClr val="111111"/>
                </a:solidFill>
                <a:effectLst/>
                <a:latin typeface="Cabin-semi-bold"/>
              </a:rPr>
              <a:t>The coupon rate</a:t>
            </a:r>
            <a:r>
              <a:rPr lang="en-US" b="0" i="0" dirty="0">
                <a:solidFill>
                  <a:srgbClr val="111111"/>
                </a:solidFill>
                <a:effectLst/>
                <a:latin typeface="SourceSansPro"/>
              </a:rPr>
              <a:t> is the rate of interest the bond issuer will pay on the face value of the bond, expressed as a percentage. For example, a 5% coupon rate means that bondholders will receive 5% x $1000 face value = $50 every year.</a:t>
            </a:r>
          </a:p>
          <a:p>
            <a:pPr marL="342900" indent="-342900" algn="just">
              <a:buFont typeface="Wingdings" panose="05000000000000000000" pitchFamily="2" charset="2"/>
              <a:buChar char="Ø"/>
            </a:pPr>
            <a:r>
              <a:rPr lang="en-US" b="1" i="0" dirty="0">
                <a:solidFill>
                  <a:srgbClr val="111111"/>
                </a:solidFill>
                <a:effectLst/>
                <a:latin typeface="Cabin-semi-bold"/>
              </a:rPr>
              <a:t>Coupon dates</a:t>
            </a:r>
            <a:r>
              <a:rPr lang="en-US" b="0" i="0" dirty="0">
                <a:solidFill>
                  <a:srgbClr val="111111"/>
                </a:solidFill>
                <a:effectLst/>
                <a:latin typeface="SourceSansPro"/>
              </a:rPr>
              <a:t> are the dates on which the bond issuer will make interest payments. Payments can be made in any interval, but the standard is semiannual payments.</a:t>
            </a:r>
          </a:p>
          <a:p>
            <a:pPr marL="342900" indent="-342900" algn="just">
              <a:buFont typeface="Wingdings" panose="05000000000000000000" pitchFamily="2" charset="2"/>
              <a:buChar char="Ø"/>
            </a:pPr>
            <a:r>
              <a:rPr lang="en-US" b="1" i="0" dirty="0">
                <a:solidFill>
                  <a:srgbClr val="111111"/>
                </a:solidFill>
                <a:effectLst/>
                <a:latin typeface="Cabin-semi-bold"/>
              </a:rPr>
              <a:t>The maturity date</a:t>
            </a:r>
            <a:r>
              <a:rPr lang="en-US" b="0" i="0" dirty="0">
                <a:solidFill>
                  <a:srgbClr val="111111"/>
                </a:solidFill>
                <a:effectLst/>
                <a:latin typeface="SourceSansPro"/>
              </a:rPr>
              <a:t> is the date on which the bond will mature and the bond issuer will pay the bondholder the face value of the bond.</a:t>
            </a:r>
          </a:p>
          <a:p>
            <a:pPr marL="342900" indent="-342900" algn="just">
              <a:buFont typeface="Wingdings" panose="05000000000000000000" pitchFamily="2" charset="2"/>
              <a:buChar char="Ø"/>
            </a:pPr>
            <a:r>
              <a:rPr lang="en-US" b="1" i="0" dirty="0">
                <a:solidFill>
                  <a:srgbClr val="111111"/>
                </a:solidFill>
                <a:effectLst/>
                <a:latin typeface="Cabin-semi-bold"/>
              </a:rPr>
              <a:t>The issue price </a:t>
            </a:r>
            <a:r>
              <a:rPr lang="en-US" b="0" i="0" dirty="0">
                <a:solidFill>
                  <a:srgbClr val="111111"/>
                </a:solidFill>
                <a:effectLst/>
                <a:latin typeface="SourceSansPro"/>
              </a:rPr>
              <a:t>is the price at which the bond issuer originally sells the bonds.</a:t>
            </a:r>
          </a:p>
          <a:p>
            <a:endParaRPr lang="en-IN" dirty="0"/>
          </a:p>
        </p:txBody>
      </p:sp>
    </p:spTree>
    <p:extLst>
      <p:ext uri="{BB962C8B-B14F-4D97-AF65-F5344CB8AC3E}">
        <p14:creationId xmlns:p14="http://schemas.microsoft.com/office/powerpoint/2010/main" val="320542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3EB967A-CD35-4B68-B08D-98CB8DE3E104}"/>
              </a:ext>
            </a:extLst>
          </p:cNvPr>
          <p:cNvSpPr>
            <a:spLocks noGrp="1"/>
          </p:cNvSpPr>
          <p:nvPr>
            <p:ph type="subTitle" idx="1"/>
          </p:nvPr>
        </p:nvSpPr>
        <p:spPr>
          <a:xfrm>
            <a:off x="213064" y="-248574"/>
            <a:ext cx="11496583" cy="6880194"/>
          </a:xfrm>
        </p:spPr>
        <p:txBody>
          <a:bodyPr/>
          <a:lstStyle/>
          <a:p>
            <a:pPr marL="342900" indent="-342900" algn="just">
              <a:buFont typeface="Wingdings" panose="05000000000000000000" pitchFamily="2" charset="2"/>
              <a:buChar char="Ø"/>
            </a:pPr>
            <a:r>
              <a:rPr lang="en-US" b="0" i="0" dirty="0">
                <a:solidFill>
                  <a:srgbClr val="111111"/>
                </a:solidFill>
                <a:effectLst/>
                <a:latin typeface="Cabin-semi-bold"/>
              </a:rPr>
              <a:t>Categories of Bonds</a:t>
            </a:r>
          </a:p>
          <a:p>
            <a:pPr marL="342900" indent="-342900" algn="just">
              <a:buFont typeface="Wingdings" panose="05000000000000000000" pitchFamily="2" charset="2"/>
              <a:buChar char="Ø"/>
            </a:pPr>
            <a:r>
              <a:rPr lang="en-US" b="0" i="0" dirty="0">
                <a:solidFill>
                  <a:srgbClr val="111111"/>
                </a:solidFill>
                <a:effectLst/>
                <a:latin typeface="SourceSansPro"/>
              </a:rPr>
              <a:t>There are four primary categories of bonds sold in the markets. However, you may also see </a:t>
            </a:r>
            <a:r>
              <a:rPr lang="en-US" b="0" i="0" u="sng" dirty="0">
                <a:solidFill>
                  <a:srgbClr val="2C40D0"/>
                </a:solidFill>
                <a:effectLst/>
                <a:latin typeface="SourceSansPro"/>
                <a:hlinkClick r:id="rId2"/>
              </a:rPr>
              <a:t>foreign bonds</a:t>
            </a:r>
            <a:r>
              <a:rPr lang="en-US" b="0" i="0" dirty="0">
                <a:solidFill>
                  <a:srgbClr val="111111"/>
                </a:solidFill>
                <a:effectLst/>
                <a:latin typeface="SourceSansPro"/>
              </a:rPr>
              <a:t> issued by corporations and governments on some platforms.</a:t>
            </a:r>
          </a:p>
          <a:p>
            <a:pPr marL="342900" indent="-342900" algn="just">
              <a:buFont typeface="Wingdings" panose="05000000000000000000" pitchFamily="2" charset="2"/>
              <a:buChar char="Ø"/>
            </a:pPr>
            <a:r>
              <a:rPr lang="en-US" b="1" i="0" dirty="0">
                <a:solidFill>
                  <a:srgbClr val="111111"/>
                </a:solidFill>
                <a:effectLst/>
                <a:latin typeface="Cabin-semi-bold"/>
              </a:rPr>
              <a:t>Corporate bonds</a:t>
            </a:r>
            <a:r>
              <a:rPr lang="en-US" b="0" i="0" dirty="0">
                <a:solidFill>
                  <a:srgbClr val="111111"/>
                </a:solidFill>
                <a:effectLst/>
                <a:latin typeface="SourceSansPro"/>
              </a:rPr>
              <a:t> are issued by companies. Companies issue bonds rather than seek bank loans for debt financing in many cases because bond markets offer more favorable terms and lower interest rates.</a:t>
            </a:r>
          </a:p>
          <a:p>
            <a:pPr marL="342900" indent="-342900" algn="just">
              <a:buFont typeface="Wingdings" panose="05000000000000000000" pitchFamily="2" charset="2"/>
              <a:buChar char="Ø"/>
            </a:pPr>
            <a:r>
              <a:rPr lang="en-US" b="1" i="0" dirty="0">
                <a:solidFill>
                  <a:srgbClr val="111111"/>
                </a:solidFill>
                <a:effectLst/>
                <a:latin typeface="Cabin-semi-bold"/>
              </a:rPr>
              <a:t>Municipal bonds</a:t>
            </a:r>
            <a:r>
              <a:rPr lang="en-US" b="0" i="0" dirty="0">
                <a:solidFill>
                  <a:srgbClr val="111111"/>
                </a:solidFill>
                <a:effectLst/>
                <a:latin typeface="SourceSansPro"/>
              </a:rPr>
              <a:t> are issued by states and municipalities. Some municipal bonds offer tax-free coupon income for investors.</a:t>
            </a:r>
          </a:p>
          <a:p>
            <a:pPr marL="342900" indent="-342900" algn="just">
              <a:buFont typeface="Wingdings" panose="05000000000000000000" pitchFamily="2" charset="2"/>
              <a:buChar char="Ø"/>
            </a:pPr>
            <a:r>
              <a:rPr lang="en-US" b="1" i="0" dirty="0">
                <a:solidFill>
                  <a:srgbClr val="111111"/>
                </a:solidFill>
                <a:effectLst/>
                <a:latin typeface="Cabin-semi-bold"/>
              </a:rPr>
              <a:t>Government bonds</a:t>
            </a:r>
            <a:r>
              <a:rPr lang="en-US" b="0" i="0" dirty="0">
                <a:solidFill>
                  <a:srgbClr val="111111"/>
                </a:solidFill>
                <a:effectLst/>
                <a:latin typeface="SourceSansPro"/>
              </a:rPr>
              <a:t> such as those issued by the U.S. Treasury. Bonds issued by the Treasury with a year or less to maturity are called “Bills”; bonds issued with 1–10 years to maturity are called “notes”; and bonds issued with more than 10 years to maturity are called “bonds.” The entire category of bonds issued by a government treasury is often collectively referred to as "treasuries." Government bonds issued by national governments may be referred to as sovereign debt.</a:t>
            </a:r>
          </a:p>
          <a:p>
            <a:pPr marL="342900" indent="-342900" algn="just">
              <a:buFont typeface="Wingdings" panose="05000000000000000000" pitchFamily="2" charset="2"/>
              <a:buChar char="Ø"/>
            </a:pPr>
            <a:r>
              <a:rPr lang="en-US" b="1" i="0" dirty="0">
                <a:solidFill>
                  <a:srgbClr val="111111"/>
                </a:solidFill>
                <a:effectLst/>
                <a:latin typeface="Cabin-semi-bold"/>
              </a:rPr>
              <a:t>Agency bonds</a:t>
            </a:r>
            <a:r>
              <a:rPr lang="en-US" b="0" i="0" dirty="0">
                <a:solidFill>
                  <a:srgbClr val="111111"/>
                </a:solidFill>
                <a:effectLst/>
                <a:latin typeface="SourceSansPro"/>
              </a:rPr>
              <a:t> are those issued by government-affiliated organizations such as Fannie Mae or Freddie Mac.</a:t>
            </a:r>
          </a:p>
          <a:p>
            <a:endParaRPr lang="en-IN" dirty="0"/>
          </a:p>
        </p:txBody>
      </p:sp>
    </p:spTree>
    <p:extLst>
      <p:ext uri="{BB962C8B-B14F-4D97-AF65-F5344CB8AC3E}">
        <p14:creationId xmlns:p14="http://schemas.microsoft.com/office/powerpoint/2010/main" val="2139398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18BA839-CBB0-494A-828F-197D71AA175C}"/>
              </a:ext>
            </a:extLst>
          </p:cNvPr>
          <p:cNvSpPr>
            <a:spLocks noGrp="1"/>
          </p:cNvSpPr>
          <p:nvPr>
            <p:ph type="subTitle" idx="1"/>
          </p:nvPr>
        </p:nvSpPr>
        <p:spPr>
          <a:xfrm>
            <a:off x="630315" y="195309"/>
            <a:ext cx="11230252" cy="6409677"/>
          </a:xfrm>
        </p:spPr>
        <p:txBody>
          <a:bodyPr>
            <a:normAutofit lnSpcReduction="10000"/>
          </a:bodyPr>
          <a:lstStyle/>
          <a:p>
            <a:pPr marL="342900" indent="-342900" algn="just">
              <a:buFont typeface="Wingdings" panose="05000000000000000000" pitchFamily="2" charset="2"/>
              <a:buChar char="Ø"/>
            </a:pPr>
            <a:r>
              <a:rPr lang="en-US" sz="2800" b="1" i="0" dirty="0">
                <a:solidFill>
                  <a:srgbClr val="202124"/>
                </a:solidFill>
                <a:effectLst/>
                <a:latin typeface="Times New Roman" panose="02020603050405020304" pitchFamily="18" charset="0"/>
                <a:cs typeface="Times New Roman" panose="02020603050405020304" pitchFamily="18" charset="0"/>
              </a:rPr>
              <a:t>Internal sources of finance</a:t>
            </a:r>
            <a:r>
              <a:rPr lang="en-US" b="0" i="0" dirty="0">
                <a:solidFill>
                  <a:srgbClr val="202124"/>
                </a:solidFill>
                <a:effectLst/>
                <a:latin typeface="arial" panose="020B0604020202020204" pitchFamily="34" charset="0"/>
              </a:rPr>
              <a:t> refer </a:t>
            </a:r>
            <a:r>
              <a:rPr lang="en-US" b="1" i="0" dirty="0">
                <a:solidFill>
                  <a:srgbClr val="202124"/>
                </a:solidFill>
                <a:effectLst/>
                <a:latin typeface="arial" panose="020B0604020202020204" pitchFamily="34" charset="0"/>
              </a:rPr>
              <a:t>to money that comes from within a business</a:t>
            </a:r>
            <a:r>
              <a:rPr lang="en-US" b="0" i="0" dirty="0">
                <a:solidFill>
                  <a:srgbClr val="202124"/>
                </a:solidFill>
                <a:effectLst/>
                <a:latin typeface="arial" panose="020B0604020202020204" pitchFamily="34" charset="0"/>
              </a:rPr>
              <a:t>. </a:t>
            </a:r>
          </a:p>
          <a:p>
            <a:pPr marL="342900" indent="-342900" algn="just">
              <a:buFont typeface="Wingdings" panose="05000000000000000000" pitchFamily="2" charset="2"/>
              <a:buChar char="Ø"/>
            </a:pPr>
            <a:r>
              <a:rPr lang="en-US" b="0" i="0" dirty="0">
                <a:solidFill>
                  <a:srgbClr val="202124"/>
                </a:solidFill>
                <a:effectLst/>
                <a:latin typeface="arial" panose="020B0604020202020204" pitchFamily="34" charset="0"/>
              </a:rPr>
              <a:t>There are several internal methods a business can use, including owners capital , retained profit and selling assets </a:t>
            </a:r>
          </a:p>
          <a:p>
            <a:pPr marL="342900" indent="-342900" algn="just">
              <a:buFont typeface="Wingdings" panose="05000000000000000000" pitchFamily="2" charset="2"/>
              <a:buChar char="Ø"/>
            </a:pPr>
            <a:r>
              <a:rPr lang="en-US" b="0" i="0" dirty="0">
                <a:solidFill>
                  <a:srgbClr val="202124"/>
                </a:solidFill>
                <a:effectLst/>
                <a:latin typeface="arial" panose="020B0604020202020204" pitchFamily="34" charset="0"/>
              </a:rPr>
              <a:t> This may be used when either a business no longer has a use for the product or they need to raise money quickly.</a:t>
            </a:r>
          </a:p>
          <a:p>
            <a:pPr marL="342900" indent="-342900" algn="just">
              <a:buFont typeface="Wingdings" panose="05000000000000000000" pitchFamily="2" charset="2"/>
              <a:buChar char="Ø"/>
            </a:pPr>
            <a:r>
              <a:rPr lang="en-US" dirty="0"/>
              <a:t>3. Based on Sources of Generation Sources of Finance may be classified into various categories based on the period. </a:t>
            </a:r>
          </a:p>
          <a:p>
            <a:pPr marL="342900" indent="-342900" algn="just">
              <a:buFont typeface="Wingdings" panose="05000000000000000000" pitchFamily="2" charset="2"/>
              <a:buChar char="Ø"/>
            </a:pPr>
            <a:r>
              <a:rPr lang="en-US" dirty="0"/>
              <a:t>Internal source of finance includes </a:t>
            </a:r>
          </a:p>
          <a:p>
            <a:pPr marL="342900" indent="-342900" algn="just">
              <a:buFont typeface="Wingdings" panose="05000000000000000000" pitchFamily="2" charset="2"/>
              <a:buChar char="Ø"/>
            </a:pPr>
            <a:r>
              <a:rPr lang="en-US" dirty="0"/>
              <a:t>● Retained earnings </a:t>
            </a:r>
          </a:p>
          <a:p>
            <a:pPr marL="342900" indent="-342900" algn="just">
              <a:buFont typeface="Wingdings" panose="05000000000000000000" pitchFamily="2" charset="2"/>
              <a:buChar char="Ø"/>
            </a:pPr>
            <a:r>
              <a:rPr lang="en-US" dirty="0"/>
              <a:t>● Depreciation funds </a:t>
            </a:r>
          </a:p>
          <a:p>
            <a:pPr marL="342900" indent="-342900" algn="just">
              <a:buFont typeface="Wingdings" panose="05000000000000000000" pitchFamily="2" charset="2"/>
              <a:buChar char="Ø"/>
            </a:pPr>
            <a:r>
              <a:rPr lang="en-US" dirty="0"/>
              <a:t>● Surplus External sources of finance may be include</a:t>
            </a:r>
          </a:p>
          <a:p>
            <a:pPr marL="342900" indent="-342900" algn="just">
              <a:buFont typeface="Wingdings" panose="05000000000000000000" pitchFamily="2" charset="2"/>
              <a:buChar char="Ø"/>
            </a:pPr>
            <a:r>
              <a:rPr lang="en-US" dirty="0"/>
              <a:t> ● Share capital </a:t>
            </a:r>
          </a:p>
          <a:p>
            <a:pPr marL="342900" indent="-342900" algn="just">
              <a:buFont typeface="Wingdings" panose="05000000000000000000" pitchFamily="2" charset="2"/>
              <a:buChar char="Ø"/>
            </a:pPr>
            <a:r>
              <a:rPr lang="en-US" dirty="0"/>
              <a:t>● Debenture </a:t>
            </a:r>
          </a:p>
          <a:p>
            <a:pPr marL="342900" indent="-342900" algn="just">
              <a:buFont typeface="Wingdings" panose="05000000000000000000" pitchFamily="2" charset="2"/>
              <a:buChar char="Ø"/>
            </a:pPr>
            <a:r>
              <a:rPr lang="en-US" dirty="0"/>
              <a:t>● Public deposits </a:t>
            </a:r>
          </a:p>
          <a:p>
            <a:pPr marL="342900" indent="-342900" algn="just">
              <a:buFont typeface="Wingdings" panose="05000000000000000000" pitchFamily="2" charset="2"/>
              <a:buChar char="Ø"/>
            </a:pPr>
            <a:r>
              <a:rPr lang="en-US" dirty="0"/>
              <a:t>● Loans from Banks and Financial institution</a:t>
            </a:r>
            <a:endParaRPr lang="en-IN" dirty="0"/>
          </a:p>
          <a:p>
            <a:endParaRPr lang="en-IN" dirty="0"/>
          </a:p>
        </p:txBody>
      </p:sp>
    </p:spTree>
    <p:extLst>
      <p:ext uri="{BB962C8B-B14F-4D97-AF65-F5344CB8AC3E}">
        <p14:creationId xmlns:p14="http://schemas.microsoft.com/office/powerpoint/2010/main" val="3273469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59B3125-34DA-4176-91C2-68254925F5B1}"/>
              </a:ext>
            </a:extLst>
          </p:cNvPr>
          <p:cNvSpPr>
            <a:spLocks noGrp="1"/>
          </p:cNvSpPr>
          <p:nvPr>
            <p:ph type="subTitle" idx="1"/>
          </p:nvPr>
        </p:nvSpPr>
        <p:spPr>
          <a:xfrm>
            <a:off x="0" y="479394"/>
            <a:ext cx="11984854" cy="6738152"/>
          </a:xfrm>
        </p:spPr>
        <p:txBody>
          <a:bodyPr>
            <a:normAutofit lnSpcReduction="10000"/>
          </a:bodyPr>
          <a:lstStyle/>
          <a:p>
            <a:pPr algn="l"/>
            <a:r>
              <a:rPr lang="en-US" b="1" i="0" dirty="0">
                <a:effectLst/>
                <a:latin typeface="Gilroy"/>
              </a:rPr>
              <a:t>Loan Financing </a:t>
            </a:r>
          </a:p>
          <a:p>
            <a:pPr algn="l"/>
            <a:endParaRPr lang="en-US" b="1" dirty="0">
              <a:latin typeface="Gilroy"/>
            </a:endParaRPr>
          </a:p>
          <a:p>
            <a:pPr marL="342900" indent="-342900" algn="just">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Types of Loans</a:t>
            </a:r>
          </a:p>
          <a:p>
            <a:pPr marL="342900" indent="-342900" algn="just">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Based on the Security Provided</a:t>
            </a:r>
          </a:p>
          <a:p>
            <a:pPr marL="342900" indent="-342900" algn="just">
              <a:buFont typeface="Wingdings" panose="05000000000000000000" pitchFamily="2" charset="2"/>
              <a:buChar char="Ø"/>
            </a:pPr>
            <a:r>
              <a:rPr lang="en-US" b="1" i="0" dirty="0">
                <a:solidFill>
                  <a:srgbClr val="314259"/>
                </a:solidFill>
                <a:effectLst/>
                <a:latin typeface="Times New Roman" panose="02020603050405020304" pitchFamily="18" charset="0"/>
                <a:cs typeface="Times New Roman" panose="02020603050405020304" pitchFamily="18" charset="0"/>
              </a:rPr>
              <a:t>Secured Loans</a:t>
            </a:r>
            <a:endParaRPr lang="en-US" b="0" i="0" dirty="0">
              <a:solidFill>
                <a:srgbClr val="314259"/>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b="0" i="0" dirty="0">
                <a:solidFill>
                  <a:srgbClr val="314259"/>
                </a:solidFill>
                <a:effectLst/>
                <a:latin typeface="Times New Roman" panose="02020603050405020304" pitchFamily="18" charset="0"/>
                <a:cs typeface="Times New Roman" panose="02020603050405020304" pitchFamily="18" charset="0"/>
              </a:rPr>
              <a:t>These loans require the borrower to pledge collateral for the money being borrowed.</a:t>
            </a:r>
          </a:p>
          <a:p>
            <a:pPr marL="342900" indent="-342900" algn="just">
              <a:buFont typeface="Wingdings" panose="05000000000000000000" pitchFamily="2" charset="2"/>
              <a:buChar char="Ø"/>
            </a:pPr>
            <a:r>
              <a:rPr lang="en-US" b="0" i="0" dirty="0">
                <a:solidFill>
                  <a:srgbClr val="314259"/>
                </a:solidFill>
                <a:effectLst/>
                <a:latin typeface="Times New Roman" panose="02020603050405020304" pitchFamily="18" charset="0"/>
                <a:cs typeface="Times New Roman" panose="02020603050405020304" pitchFamily="18" charset="0"/>
              </a:rPr>
              <a:t> In case the borrower is unable to repay the loan, the bank reserves the right to utilize the pledged collateral to recover the pending payment. </a:t>
            </a:r>
          </a:p>
          <a:p>
            <a:pPr marL="342900" indent="-342900" algn="just">
              <a:buFont typeface="Wingdings" panose="05000000000000000000" pitchFamily="2" charset="2"/>
              <a:buChar char="Ø"/>
            </a:pPr>
            <a:r>
              <a:rPr lang="en-US" b="0" i="0" dirty="0">
                <a:solidFill>
                  <a:srgbClr val="314259"/>
                </a:solidFill>
                <a:effectLst/>
                <a:latin typeface="Times New Roman" panose="02020603050405020304" pitchFamily="18" charset="0"/>
                <a:cs typeface="Times New Roman" panose="02020603050405020304" pitchFamily="18" charset="0"/>
              </a:rPr>
              <a:t>The interest rate for such loans is much lower as compared to unsecured loans.</a:t>
            </a:r>
            <a:br>
              <a:rPr lang="en-US" b="0" i="0" dirty="0">
                <a:solidFill>
                  <a:srgbClr val="314259"/>
                </a:solidFill>
                <a:effectLst/>
                <a:latin typeface="Times New Roman" panose="02020603050405020304" pitchFamily="18" charset="0"/>
                <a:cs typeface="Times New Roman" panose="02020603050405020304" pitchFamily="18" charset="0"/>
              </a:rPr>
            </a:br>
            <a:br>
              <a:rPr lang="en-US" b="0" i="0" dirty="0">
                <a:solidFill>
                  <a:srgbClr val="314259"/>
                </a:solidFill>
                <a:effectLst/>
                <a:latin typeface="Times New Roman" panose="02020603050405020304" pitchFamily="18" charset="0"/>
                <a:cs typeface="Times New Roman" panose="02020603050405020304" pitchFamily="18" charset="0"/>
              </a:rPr>
            </a:br>
            <a:endParaRPr lang="en-US" b="0" i="0" dirty="0">
              <a:solidFill>
                <a:srgbClr val="314259"/>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b="1" i="0" dirty="0">
                <a:solidFill>
                  <a:srgbClr val="314259"/>
                </a:solidFill>
                <a:effectLst/>
                <a:latin typeface="Times New Roman" panose="02020603050405020304" pitchFamily="18" charset="0"/>
                <a:cs typeface="Times New Roman" panose="02020603050405020304" pitchFamily="18" charset="0"/>
              </a:rPr>
              <a:t>Unsecured Loans</a:t>
            </a:r>
            <a:endParaRPr lang="en-US" b="0" i="0" dirty="0">
              <a:solidFill>
                <a:srgbClr val="314259"/>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b="0" i="0" dirty="0">
                <a:solidFill>
                  <a:srgbClr val="314259"/>
                </a:solidFill>
                <a:effectLst/>
                <a:latin typeface="Times New Roman" panose="02020603050405020304" pitchFamily="18" charset="0"/>
                <a:cs typeface="Times New Roman" panose="02020603050405020304" pitchFamily="18" charset="0"/>
              </a:rPr>
              <a:t>Unsecured loans are those that do not require any collateral for loan disbursement.</a:t>
            </a:r>
          </a:p>
          <a:p>
            <a:pPr marL="342900" indent="-342900" algn="just">
              <a:buFont typeface="Wingdings" panose="05000000000000000000" pitchFamily="2" charset="2"/>
              <a:buChar char="Ø"/>
            </a:pPr>
            <a:r>
              <a:rPr lang="en-US" b="0" i="0" dirty="0">
                <a:solidFill>
                  <a:srgbClr val="314259"/>
                </a:solidFill>
                <a:effectLst/>
                <a:latin typeface="Times New Roman" panose="02020603050405020304" pitchFamily="18" charset="0"/>
                <a:cs typeface="Times New Roman" panose="02020603050405020304" pitchFamily="18" charset="0"/>
              </a:rPr>
              <a:t> The bank analyses the past relationship with the borrower, the credit score, and other factors to determine whether the loan should be given or not. </a:t>
            </a:r>
          </a:p>
          <a:p>
            <a:pPr marL="342900" indent="-342900" algn="just">
              <a:buFont typeface="Wingdings" panose="05000000000000000000" pitchFamily="2" charset="2"/>
              <a:buChar char="Ø"/>
            </a:pPr>
            <a:r>
              <a:rPr lang="en-US" b="0" i="0" dirty="0">
                <a:solidFill>
                  <a:srgbClr val="314259"/>
                </a:solidFill>
                <a:effectLst/>
                <a:latin typeface="Times New Roman" panose="02020603050405020304" pitchFamily="18" charset="0"/>
                <a:cs typeface="Times New Roman" panose="02020603050405020304" pitchFamily="18" charset="0"/>
              </a:rPr>
              <a:t>The interest rate for such loans can be higher as there is no way to recover the loan amount if the borrower defaults.</a:t>
            </a:r>
          </a:p>
          <a:p>
            <a:endParaRPr lang="en-IN" dirty="0"/>
          </a:p>
        </p:txBody>
      </p:sp>
    </p:spTree>
    <p:extLst>
      <p:ext uri="{BB962C8B-B14F-4D97-AF65-F5344CB8AC3E}">
        <p14:creationId xmlns:p14="http://schemas.microsoft.com/office/powerpoint/2010/main" val="2880899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A434B80-3E07-4168-BE6A-BADDA3C44761}"/>
              </a:ext>
            </a:extLst>
          </p:cNvPr>
          <p:cNvSpPr>
            <a:spLocks noGrp="1"/>
          </p:cNvSpPr>
          <p:nvPr>
            <p:ph type="subTitle" idx="1"/>
          </p:nvPr>
        </p:nvSpPr>
        <p:spPr>
          <a:xfrm>
            <a:off x="115410" y="0"/>
            <a:ext cx="11816177" cy="6243221"/>
          </a:xfrm>
        </p:spPr>
        <p:txBody>
          <a:bodyPr>
            <a:normAutofit fontScale="47500" lnSpcReduction="20000"/>
          </a:bodyPr>
          <a:lstStyle/>
          <a:p>
            <a:pPr algn="l"/>
            <a:r>
              <a:rPr lang="en-US" b="1" i="0" dirty="0">
                <a:solidFill>
                  <a:srgbClr val="242424"/>
                </a:solidFill>
                <a:effectLst/>
                <a:latin typeface="Lato" panose="020F0502020204030203" pitchFamily="34" charset="0"/>
              </a:rPr>
              <a:t>Sources of innovation funding</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Funding sources available to businesses may include seeking equity finance, applying for government or university funding, and considering an initial public offering. </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It is imperative that startup businesses plan for growth in order to be able to meet their commercial objectives.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Financial success is the major goal of business. </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In order to achieve this goal, businesses must:</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have realistic financial plans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monitor and review costs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gain support of bankers, investors and venture capitalists.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Some important sources of funding for innovation activities include:</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your own funds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government grants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family and friends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debt</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equity</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business angels</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venture capital</a:t>
            </a:r>
          </a:p>
          <a:p>
            <a:pPr marL="342900" indent="-342900" algn="just">
              <a:buFont typeface="Wingdings" panose="05000000000000000000" pitchFamily="2" charset="2"/>
              <a:buChar char="Ø"/>
            </a:pPr>
            <a:r>
              <a:rPr lang="en-US" sz="3800" b="0" i="0" dirty="0">
                <a:solidFill>
                  <a:srgbClr val="242424"/>
                </a:solidFill>
                <a:effectLst/>
                <a:latin typeface="Lato" panose="020F0502020204030203" pitchFamily="34" charset="0"/>
              </a:rPr>
              <a:t>crowdfunding</a:t>
            </a:r>
            <a:r>
              <a:rPr lang="en-US" b="0" i="0" dirty="0">
                <a:solidFill>
                  <a:srgbClr val="242424"/>
                </a:solidFill>
                <a:effectLst/>
                <a:latin typeface="Lato" panose="020F0502020204030203" pitchFamily="34" charset="0"/>
              </a:rPr>
              <a:t>.</a:t>
            </a:r>
          </a:p>
          <a:p>
            <a:endParaRPr lang="en-IN" dirty="0"/>
          </a:p>
        </p:txBody>
      </p:sp>
    </p:spTree>
    <p:extLst>
      <p:ext uri="{BB962C8B-B14F-4D97-AF65-F5344CB8AC3E}">
        <p14:creationId xmlns:p14="http://schemas.microsoft.com/office/powerpoint/2010/main" val="487112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B8B91A6-4C93-4B1E-B6BE-F983A0D5B0DE}"/>
              </a:ext>
            </a:extLst>
          </p:cNvPr>
          <p:cNvSpPr>
            <a:spLocks noGrp="1"/>
          </p:cNvSpPr>
          <p:nvPr>
            <p:ph type="subTitle" idx="1"/>
          </p:nvPr>
        </p:nvSpPr>
        <p:spPr>
          <a:xfrm>
            <a:off x="284085" y="363984"/>
            <a:ext cx="11256886" cy="6125593"/>
          </a:xfrm>
        </p:spPr>
        <p:txBody>
          <a:bodyPr>
            <a:normAutofit lnSpcReduction="10000"/>
          </a:bodyPr>
          <a:lstStyle/>
          <a:p>
            <a:pPr marL="457200" indent="-457200" algn="just">
              <a:buFont typeface="Wingdings" panose="05000000000000000000" pitchFamily="2" charset="2"/>
              <a:buChar char="Ø"/>
            </a:pPr>
            <a:r>
              <a:rPr lang="en-US" sz="2800" b="0" i="0" dirty="0">
                <a:solidFill>
                  <a:srgbClr val="292929"/>
                </a:solidFill>
                <a:effectLst/>
                <a:latin typeface="Rubik"/>
              </a:rPr>
              <a:t>What is Venture Capital?</a:t>
            </a:r>
          </a:p>
          <a:p>
            <a:pPr marL="457200" indent="-457200" algn="just">
              <a:buFont typeface="Wingdings" panose="05000000000000000000" pitchFamily="2" charset="2"/>
              <a:buChar char="Ø"/>
            </a:pPr>
            <a:r>
              <a:rPr lang="en-US" sz="2800" b="0" i="0" dirty="0">
                <a:solidFill>
                  <a:srgbClr val="292929"/>
                </a:solidFill>
                <a:effectLst/>
                <a:latin typeface="Rubik"/>
              </a:rPr>
              <a:t>It is a private or institutional investment made into early-stage / start-up companies (new ventures).</a:t>
            </a:r>
          </a:p>
          <a:p>
            <a:pPr marL="457200" indent="-457200" algn="just">
              <a:buFont typeface="Wingdings" panose="05000000000000000000" pitchFamily="2" charset="2"/>
              <a:buChar char="Ø"/>
            </a:pPr>
            <a:r>
              <a:rPr lang="en-US" sz="2800" b="0" i="0" dirty="0">
                <a:solidFill>
                  <a:srgbClr val="292929"/>
                </a:solidFill>
                <a:effectLst/>
                <a:latin typeface="Rubik"/>
              </a:rPr>
              <a:t> As defined, ventures involve risk (having uncertain outcome) in the expectation of a sizeable gain. </a:t>
            </a:r>
          </a:p>
          <a:p>
            <a:pPr marL="457200" indent="-457200" algn="just">
              <a:buFont typeface="Wingdings" panose="05000000000000000000" pitchFamily="2" charset="2"/>
              <a:buChar char="Ø"/>
            </a:pPr>
            <a:r>
              <a:rPr lang="en-US" sz="2800" b="0" i="0" dirty="0">
                <a:solidFill>
                  <a:srgbClr val="292929"/>
                </a:solidFill>
                <a:effectLst/>
                <a:latin typeface="Rubik"/>
              </a:rPr>
              <a:t>Venture Capital is money invested in businesses that are small; or exist only as an initiative, but have huge potential to grow. </a:t>
            </a:r>
          </a:p>
          <a:p>
            <a:pPr marL="457200" indent="-457200" algn="just">
              <a:buFont typeface="Wingdings" panose="05000000000000000000" pitchFamily="2" charset="2"/>
              <a:buChar char="Ø"/>
            </a:pPr>
            <a:r>
              <a:rPr lang="en-US" sz="2800" b="0" i="0" dirty="0">
                <a:solidFill>
                  <a:srgbClr val="292929"/>
                </a:solidFill>
                <a:effectLst/>
                <a:latin typeface="Rubik"/>
              </a:rPr>
              <a:t>The people who invest this money are called venture capitalists (VCs). The venture capital investment is made when a venture capitalist buys shares of such a company and becomes a financial partner in the business.</a:t>
            </a:r>
          </a:p>
          <a:p>
            <a:pPr marL="457200" indent="-457200" algn="just">
              <a:buFont typeface="Wingdings" panose="05000000000000000000" pitchFamily="2" charset="2"/>
              <a:buChar char="Ø"/>
            </a:pPr>
            <a:r>
              <a:rPr lang="en-US" sz="2800" b="0" i="0" dirty="0">
                <a:solidFill>
                  <a:srgbClr val="292929"/>
                </a:solidFill>
                <a:effectLst/>
                <a:latin typeface="Rubik"/>
              </a:rPr>
              <a:t>Venture Capital investment is also referred to risk capital or patient risk capital, as it includes the risk of losing the money if the venture doesn’t succeed and takes medium to long term period for the investments to fructify.</a:t>
            </a:r>
          </a:p>
          <a:p>
            <a:endParaRPr lang="en-IN" dirty="0"/>
          </a:p>
        </p:txBody>
      </p:sp>
    </p:spTree>
    <p:extLst>
      <p:ext uri="{BB962C8B-B14F-4D97-AF65-F5344CB8AC3E}">
        <p14:creationId xmlns:p14="http://schemas.microsoft.com/office/powerpoint/2010/main" val="2695691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5E0923D-DF6E-4D89-8C31-06AA0D550564}"/>
              </a:ext>
            </a:extLst>
          </p:cNvPr>
          <p:cNvSpPr>
            <a:spLocks noGrp="1"/>
          </p:cNvSpPr>
          <p:nvPr>
            <p:ph type="subTitle" idx="1"/>
          </p:nvPr>
        </p:nvSpPr>
        <p:spPr>
          <a:xfrm>
            <a:off x="506027" y="443883"/>
            <a:ext cx="10161973" cy="6320901"/>
          </a:xfrm>
        </p:spPr>
        <p:txBody>
          <a:bodyPr/>
          <a:lstStyle/>
          <a:p>
            <a:pPr marL="342900" indent="-342900" algn="just">
              <a:buFont typeface="Wingdings" panose="05000000000000000000" pitchFamily="2" charset="2"/>
              <a:buChar char="Ø"/>
            </a:pPr>
            <a:r>
              <a:rPr lang="en-US" b="0" i="0" dirty="0">
                <a:solidFill>
                  <a:srgbClr val="292929"/>
                </a:solidFill>
                <a:effectLst/>
                <a:latin typeface="Rubik"/>
              </a:rPr>
              <a:t>Venture Capital typically comes from institutional investors and high net worth individuals and is pooled together by dedicated investment firms.</a:t>
            </a:r>
          </a:p>
          <a:p>
            <a:pPr marL="342900" indent="-342900" algn="just">
              <a:buFont typeface="Wingdings" panose="05000000000000000000" pitchFamily="2" charset="2"/>
              <a:buChar char="Ø"/>
            </a:pPr>
            <a:r>
              <a:rPr lang="en-US" b="0" i="0" dirty="0">
                <a:solidFill>
                  <a:srgbClr val="292929"/>
                </a:solidFill>
                <a:effectLst/>
                <a:latin typeface="Rubik"/>
              </a:rPr>
              <a:t>It is the money provided by an outside investor to finance a new, growing, or troubled business. </a:t>
            </a:r>
          </a:p>
          <a:p>
            <a:pPr marL="342900" indent="-342900" algn="just">
              <a:buFont typeface="Wingdings" panose="05000000000000000000" pitchFamily="2" charset="2"/>
              <a:buChar char="Ø"/>
            </a:pPr>
            <a:r>
              <a:rPr lang="en-US" b="0" i="0" dirty="0">
                <a:solidFill>
                  <a:srgbClr val="292929"/>
                </a:solidFill>
                <a:effectLst/>
                <a:latin typeface="Rubik"/>
              </a:rPr>
              <a:t>The venture capitalist provides the funding knowing that there’s a significant risk associated with the company’s future profits and cash flow.</a:t>
            </a:r>
          </a:p>
          <a:p>
            <a:pPr marL="342900" indent="-342900" algn="just">
              <a:buFont typeface="Wingdings" panose="05000000000000000000" pitchFamily="2" charset="2"/>
              <a:buChar char="Ø"/>
            </a:pPr>
            <a:r>
              <a:rPr lang="en-US" b="0" i="0" dirty="0">
                <a:solidFill>
                  <a:srgbClr val="292929"/>
                </a:solidFill>
                <a:effectLst/>
                <a:latin typeface="Rubik"/>
              </a:rPr>
              <a:t> Capital is invested in exchange for an equity stake in the business rather than given as a loan.</a:t>
            </a:r>
          </a:p>
          <a:p>
            <a:pPr marL="342900" indent="-342900" algn="just">
              <a:buFont typeface="Wingdings" panose="05000000000000000000" pitchFamily="2" charset="2"/>
              <a:buChar char="Ø"/>
            </a:pPr>
            <a:endParaRPr lang="en-IN" dirty="0"/>
          </a:p>
          <a:p>
            <a:pPr marL="342900" indent="-342900" algn="just">
              <a:buFont typeface="Wingdings" panose="05000000000000000000" pitchFamily="2" charset="2"/>
              <a:buChar char="Ø"/>
            </a:pPr>
            <a:r>
              <a:rPr lang="en-US" b="0" i="0" dirty="0">
                <a:solidFill>
                  <a:srgbClr val="292929"/>
                </a:solidFill>
                <a:effectLst/>
                <a:latin typeface="Rubik"/>
              </a:rPr>
              <a:t>Venture Capital is the most suitable option for funding a costly capital source for companies and most for businesses having large up-front capital requirements which have no other cheap alternatives.</a:t>
            </a:r>
            <a:r>
              <a:rPr lang="en-US" b="1" i="1" dirty="0">
                <a:solidFill>
                  <a:srgbClr val="292929"/>
                </a:solidFill>
                <a:effectLst/>
                <a:latin typeface="Rubik"/>
              </a:rPr>
              <a:t> </a:t>
            </a:r>
          </a:p>
          <a:p>
            <a:pPr marL="342900" indent="-342900" algn="just">
              <a:buFont typeface="Wingdings" panose="05000000000000000000" pitchFamily="2" charset="2"/>
              <a:buChar char="Ø"/>
            </a:pPr>
            <a:r>
              <a:rPr lang="en-US" b="1" i="1" dirty="0">
                <a:solidFill>
                  <a:srgbClr val="292929"/>
                </a:solidFill>
                <a:effectLst/>
                <a:latin typeface="Rubik"/>
              </a:rPr>
              <a:t>Software and other intellectual property</a:t>
            </a:r>
            <a:r>
              <a:rPr lang="en-US" b="0" i="0" dirty="0">
                <a:solidFill>
                  <a:srgbClr val="292929"/>
                </a:solidFill>
                <a:effectLst/>
                <a:latin typeface="Rubik"/>
              </a:rPr>
              <a:t> are generally the most common cases whose value is unproven. That is why; Venture capital funding is most widespread in the fast-growing technology and biotechnology fields.</a:t>
            </a:r>
            <a:endParaRPr lang="en-IN" dirty="0"/>
          </a:p>
        </p:txBody>
      </p:sp>
    </p:spTree>
    <p:extLst>
      <p:ext uri="{BB962C8B-B14F-4D97-AF65-F5344CB8AC3E}">
        <p14:creationId xmlns:p14="http://schemas.microsoft.com/office/powerpoint/2010/main" val="495812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00AD21A-BFC9-41BE-B90B-2DAF3214A9DB}"/>
              </a:ext>
            </a:extLst>
          </p:cNvPr>
          <p:cNvSpPr>
            <a:spLocks noGrp="1"/>
          </p:cNvSpPr>
          <p:nvPr>
            <p:ph type="subTitle" idx="1"/>
          </p:nvPr>
        </p:nvSpPr>
        <p:spPr>
          <a:xfrm>
            <a:off x="452761" y="142043"/>
            <a:ext cx="10215239" cy="7208668"/>
          </a:xfrm>
        </p:spPr>
        <p:txBody>
          <a:bodyPr/>
          <a:lstStyle/>
          <a:p>
            <a:pPr algn="l"/>
            <a:r>
              <a:rPr lang="en-US" b="0" i="0" dirty="0">
                <a:solidFill>
                  <a:srgbClr val="292929"/>
                </a:solidFill>
                <a:effectLst/>
                <a:latin typeface="Rubik"/>
              </a:rPr>
              <a:t>Features of Venture Capital investments</a:t>
            </a:r>
          </a:p>
          <a:p>
            <a:pPr algn="l">
              <a:buFont typeface="Arial" panose="020B0604020202020204" pitchFamily="34" charset="0"/>
              <a:buChar char="•"/>
            </a:pPr>
            <a:r>
              <a:rPr lang="en-US" b="0" i="0" dirty="0">
                <a:solidFill>
                  <a:srgbClr val="000000"/>
                </a:solidFill>
                <a:effectLst/>
                <a:latin typeface="Rubik"/>
              </a:rPr>
              <a:t>High Risk</a:t>
            </a:r>
          </a:p>
          <a:p>
            <a:pPr algn="l">
              <a:buFont typeface="Arial" panose="020B0604020202020204" pitchFamily="34" charset="0"/>
              <a:buChar char="•"/>
            </a:pPr>
            <a:r>
              <a:rPr lang="en-US" b="0" i="0" dirty="0">
                <a:solidFill>
                  <a:srgbClr val="000000"/>
                </a:solidFill>
                <a:effectLst/>
                <a:latin typeface="Rubik"/>
              </a:rPr>
              <a:t>Lack of Liquidity</a:t>
            </a:r>
          </a:p>
          <a:p>
            <a:pPr algn="l">
              <a:buFont typeface="Arial" panose="020B0604020202020204" pitchFamily="34" charset="0"/>
              <a:buChar char="•"/>
            </a:pPr>
            <a:r>
              <a:rPr lang="en-US" b="0" i="0" dirty="0">
                <a:solidFill>
                  <a:srgbClr val="000000"/>
                </a:solidFill>
                <a:effectLst/>
                <a:latin typeface="Rubik"/>
              </a:rPr>
              <a:t>Long term horizon</a:t>
            </a:r>
          </a:p>
          <a:p>
            <a:pPr algn="l">
              <a:buFont typeface="Arial" panose="020B0604020202020204" pitchFamily="34" charset="0"/>
              <a:buChar char="•"/>
            </a:pPr>
            <a:r>
              <a:rPr lang="en-US" b="0" i="0" dirty="0">
                <a:solidFill>
                  <a:srgbClr val="000000"/>
                </a:solidFill>
                <a:effectLst/>
                <a:latin typeface="Rubik"/>
              </a:rPr>
              <a:t>Equity participation and capital gains</a:t>
            </a:r>
          </a:p>
          <a:p>
            <a:pPr algn="l">
              <a:buFont typeface="Arial" panose="020B0604020202020204" pitchFamily="34" charset="0"/>
              <a:buChar char="•"/>
            </a:pPr>
            <a:r>
              <a:rPr lang="en-US" b="0" i="0" dirty="0">
                <a:solidFill>
                  <a:srgbClr val="000000"/>
                </a:solidFill>
                <a:effectLst/>
                <a:latin typeface="Rubik"/>
              </a:rPr>
              <a:t>Venture capital investments are made in innovative projects</a:t>
            </a:r>
          </a:p>
          <a:p>
            <a:pPr algn="l">
              <a:buFont typeface="Arial" panose="020B0604020202020204" pitchFamily="34" charset="0"/>
              <a:buChar char="•"/>
            </a:pPr>
            <a:r>
              <a:rPr lang="en-US" b="0" i="0" dirty="0">
                <a:solidFill>
                  <a:srgbClr val="000000"/>
                </a:solidFill>
                <a:effectLst/>
                <a:latin typeface="Rubik"/>
              </a:rPr>
              <a:t>Suppliers of venture capital participate in the management of the company</a:t>
            </a:r>
          </a:p>
          <a:p>
            <a:pPr algn="l">
              <a:buFont typeface="Arial" panose="020B0604020202020204" pitchFamily="34" charset="0"/>
              <a:buChar char="•"/>
            </a:pPr>
            <a:endParaRPr lang="en-US" dirty="0">
              <a:solidFill>
                <a:srgbClr val="000000"/>
              </a:solidFill>
              <a:latin typeface="Rubik"/>
            </a:endParaRPr>
          </a:p>
          <a:p>
            <a:pPr algn="l"/>
            <a:r>
              <a:rPr lang="en-US" b="0" i="0" dirty="0">
                <a:solidFill>
                  <a:srgbClr val="292929"/>
                </a:solidFill>
                <a:effectLst/>
                <a:latin typeface="Rubik"/>
              </a:rPr>
              <a:t>Methods of Venture capital financing</a:t>
            </a:r>
          </a:p>
          <a:p>
            <a:pPr algn="l">
              <a:buFont typeface="Arial" panose="020B0604020202020204" pitchFamily="34" charset="0"/>
              <a:buChar char="•"/>
            </a:pPr>
            <a:r>
              <a:rPr lang="en-US" b="0" i="0" dirty="0">
                <a:solidFill>
                  <a:srgbClr val="000000"/>
                </a:solidFill>
                <a:effectLst/>
                <a:latin typeface="Rubik"/>
              </a:rPr>
              <a:t>Equity</a:t>
            </a:r>
          </a:p>
          <a:p>
            <a:pPr algn="l">
              <a:buFont typeface="Arial" panose="020B0604020202020204" pitchFamily="34" charset="0"/>
              <a:buChar char="•"/>
            </a:pPr>
            <a:r>
              <a:rPr lang="en-US" b="0" i="0" dirty="0">
                <a:solidFill>
                  <a:srgbClr val="000000"/>
                </a:solidFill>
                <a:effectLst/>
                <a:latin typeface="Rubik"/>
              </a:rPr>
              <a:t>participating debentures</a:t>
            </a:r>
          </a:p>
          <a:p>
            <a:pPr algn="l">
              <a:buFont typeface="Arial" panose="020B0604020202020204" pitchFamily="34" charset="0"/>
              <a:buChar char="•"/>
            </a:pPr>
            <a:r>
              <a:rPr lang="en-US" b="0" i="0" dirty="0">
                <a:solidFill>
                  <a:srgbClr val="000000"/>
                </a:solidFill>
                <a:effectLst/>
                <a:latin typeface="Rubik"/>
              </a:rPr>
              <a:t>conditional loan</a:t>
            </a:r>
          </a:p>
          <a:p>
            <a:pPr algn="l"/>
            <a:r>
              <a:rPr lang="en-US" b="0" i="0" dirty="0">
                <a:solidFill>
                  <a:srgbClr val="292929"/>
                </a:solidFill>
                <a:effectLst/>
                <a:latin typeface="Rubik"/>
              </a:rPr>
              <a:t>The venture capital funding process typically involves four phases in the company’s development:</a:t>
            </a:r>
          </a:p>
          <a:p>
            <a:pPr algn="l">
              <a:buFont typeface="Arial" panose="020B0604020202020204" pitchFamily="34" charset="0"/>
              <a:buChar char="•"/>
            </a:pPr>
            <a:r>
              <a:rPr lang="en-US" b="0" i="0" dirty="0">
                <a:solidFill>
                  <a:srgbClr val="000000"/>
                </a:solidFill>
                <a:effectLst/>
                <a:latin typeface="Rubik"/>
              </a:rPr>
              <a:t>Idea generation</a:t>
            </a:r>
          </a:p>
          <a:p>
            <a:pPr algn="l">
              <a:buFont typeface="Arial" panose="020B0604020202020204" pitchFamily="34" charset="0"/>
              <a:buChar char="•"/>
            </a:pPr>
            <a:endParaRPr lang="en-US" b="0" i="0" dirty="0">
              <a:solidFill>
                <a:srgbClr val="000000"/>
              </a:solidFill>
              <a:effectLst/>
              <a:latin typeface="Rubik"/>
            </a:endParaRPr>
          </a:p>
          <a:p>
            <a:endParaRPr lang="en-IN" dirty="0"/>
          </a:p>
        </p:txBody>
      </p:sp>
    </p:spTree>
    <p:extLst>
      <p:ext uri="{BB962C8B-B14F-4D97-AF65-F5344CB8AC3E}">
        <p14:creationId xmlns:p14="http://schemas.microsoft.com/office/powerpoint/2010/main" val="612153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1B8C723-C827-4D16-A803-83393E9A1913}"/>
              </a:ext>
            </a:extLst>
          </p:cNvPr>
          <p:cNvSpPr>
            <a:spLocks noGrp="1"/>
          </p:cNvSpPr>
          <p:nvPr>
            <p:ph type="subTitle" idx="1"/>
          </p:nvPr>
        </p:nvSpPr>
        <p:spPr>
          <a:xfrm>
            <a:off x="310717" y="399495"/>
            <a:ext cx="11017189" cy="6826928"/>
          </a:xfrm>
        </p:spPr>
        <p:txBody>
          <a:bodyPr/>
          <a:lstStyle/>
          <a:p>
            <a:pPr algn="l"/>
            <a:r>
              <a:rPr lang="en-US" b="0" i="0" dirty="0">
                <a:solidFill>
                  <a:srgbClr val="292929"/>
                </a:solidFill>
                <a:effectLst/>
                <a:latin typeface="Rubik"/>
              </a:rPr>
              <a:t>Step 1: Idea generation and submission of the Business Plan</a:t>
            </a:r>
          </a:p>
          <a:p>
            <a:pPr algn="l"/>
            <a:r>
              <a:rPr lang="en-US" b="0" i="0" dirty="0">
                <a:solidFill>
                  <a:srgbClr val="292929"/>
                </a:solidFill>
                <a:effectLst/>
                <a:latin typeface="Rubik"/>
              </a:rPr>
              <a:t>The initial step in approaching a Venture Capital is to submit a business plan. The plan should include the below points:</a:t>
            </a:r>
          </a:p>
          <a:p>
            <a:pPr algn="l">
              <a:buFont typeface="Arial" panose="020B0604020202020204" pitchFamily="34" charset="0"/>
              <a:buChar char="•"/>
            </a:pPr>
            <a:r>
              <a:rPr lang="en-US" b="0" i="0" dirty="0">
                <a:solidFill>
                  <a:srgbClr val="000000"/>
                </a:solidFill>
                <a:effectLst/>
                <a:latin typeface="Rubik"/>
              </a:rPr>
              <a:t>There should be an executive summary of the business proposal</a:t>
            </a:r>
          </a:p>
          <a:p>
            <a:pPr algn="l">
              <a:buFont typeface="Arial" panose="020B0604020202020204" pitchFamily="34" charset="0"/>
              <a:buChar char="•"/>
            </a:pPr>
            <a:r>
              <a:rPr lang="en-US" b="0" i="0" dirty="0">
                <a:solidFill>
                  <a:srgbClr val="000000"/>
                </a:solidFill>
                <a:effectLst/>
                <a:latin typeface="Rubik"/>
              </a:rPr>
              <a:t>Description of the opportunity and the market potential and size</a:t>
            </a:r>
          </a:p>
          <a:p>
            <a:pPr algn="l">
              <a:buFont typeface="Arial" panose="020B0604020202020204" pitchFamily="34" charset="0"/>
              <a:buChar char="•"/>
            </a:pPr>
            <a:r>
              <a:rPr lang="en-US" b="0" i="0" dirty="0">
                <a:solidFill>
                  <a:srgbClr val="000000"/>
                </a:solidFill>
                <a:effectLst/>
                <a:latin typeface="Rubik"/>
              </a:rPr>
              <a:t>Review on the existing and expected competitive scenario</a:t>
            </a:r>
          </a:p>
          <a:p>
            <a:pPr algn="l">
              <a:buFont typeface="Arial" panose="020B0604020202020204" pitchFamily="34" charset="0"/>
              <a:buChar char="•"/>
            </a:pPr>
            <a:r>
              <a:rPr lang="en-US" b="0" i="0" dirty="0">
                <a:solidFill>
                  <a:srgbClr val="000000"/>
                </a:solidFill>
                <a:effectLst/>
                <a:latin typeface="Rubik"/>
              </a:rPr>
              <a:t>Detailed financial projections</a:t>
            </a:r>
          </a:p>
          <a:p>
            <a:pPr algn="l">
              <a:buFont typeface="Arial" panose="020B0604020202020204" pitchFamily="34" charset="0"/>
              <a:buChar char="•"/>
            </a:pPr>
            <a:r>
              <a:rPr lang="en-US" b="0" i="0" dirty="0">
                <a:solidFill>
                  <a:srgbClr val="000000"/>
                </a:solidFill>
                <a:effectLst/>
                <a:latin typeface="Rubik"/>
              </a:rPr>
              <a:t>Details of the management of the company</a:t>
            </a:r>
          </a:p>
          <a:p>
            <a:endParaRPr lang="en-IN" dirty="0"/>
          </a:p>
        </p:txBody>
      </p:sp>
    </p:spTree>
    <p:extLst>
      <p:ext uri="{BB962C8B-B14F-4D97-AF65-F5344CB8AC3E}">
        <p14:creationId xmlns:p14="http://schemas.microsoft.com/office/powerpoint/2010/main" val="1668256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4CE00-8B76-4F03-93D8-9991CB55066A}"/>
              </a:ext>
            </a:extLst>
          </p:cNvPr>
          <p:cNvSpPr>
            <a:spLocks noGrp="1"/>
          </p:cNvSpPr>
          <p:nvPr>
            <p:ph type="subTitle" idx="1"/>
          </p:nvPr>
        </p:nvSpPr>
        <p:spPr>
          <a:xfrm>
            <a:off x="381740" y="221942"/>
            <a:ext cx="10286260" cy="7048870"/>
          </a:xfrm>
        </p:spPr>
        <p:txBody>
          <a:bodyPr/>
          <a:lstStyle/>
          <a:p>
            <a:pPr algn="l"/>
            <a:r>
              <a:rPr lang="en-US" b="0" i="0" dirty="0">
                <a:solidFill>
                  <a:srgbClr val="292929"/>
                </a:solidFill>
                <a:effectLst/>
                <a:latin typeface="Rubik"/>
              </a:rPr>
              <a:t>Step 2: Introductory Meeting</a:t>
            </a:r>
          </a:p>
          <a:p>
            <a:pPr marL="457200" indent="-457200" algn="just">
              <a:buFont typeface="Wingdings" panose="05000000000000000000" pitchFamily="2" charset="2"/>
              <a:buChar char="Ø"/>
            </a:pPr>
            <a:r>
              <a:rPr lang="en-US" sz="3200" b="0" i="0" dirty="0">
                <a:solidFill>
                  <a:srgbClr val="292929"/>
                </a:solidFill>
                <a:effectLst/>
                <a:latin typeface="Rubik"/>
              </a:rPr>
              <a:t>Once the preliminary study is done by the VC and they find the project as per their preferences, there is a one-to-one meeting that is called for discussing the project in detail.</a:t>
            </a:r>
          </a:p>
          <a:p>
            <a:pPr marL="457200" indent="-457200" algn="just">
              <a:buFont typeface="Wingdings" panose="05000000000000000000" pitchFamily="2" charset="2"/>
              <a:buChar char="Ø"/>
            </a:pPr>
            <a:r>
              <a:rPr lang="en-US" sz="3200" b="0" i="0" dirty="0">
                <a:solidFill>
                  <a:srgbClr val="292929"/>
                </a:solidFill>
                <a:effectLst/>
                <a:latin typeface="Rubik"/>
              </a:rPr>
              <a:t> After the meeting the VC finally decides whether or not to move forward to the due diligence stage of the process.</a:t>
            </a:r>
          </a:p>
          <a:p>
            <a:pPr marL="457200" indent="-457200" algn="just">
              <a:buFont typeface="Wingdings" panose="05000000000000000000" pitchFamily="2" charset="2"/>
              <a:buChar char="Ø"/>
            </a:pPr>
            <a:r>
              <a:rPr lang="en-US" sz="3200" b="0" i="0" dirty="0">
                <a:solidFill>
                  <a:srgbClr val="292929"/>
                </a:solidFill>
                <a:effectLst/>
                <a:latin typeface="Rubik"/>
              </a:rPr>
              <a:t>Step 3: Due Diligence</a:t>
            </a:r>
          </a:p>
          <a:p>
            <a:pPr marL="457200" indent="-457200" algn="just">
              <a:buFont typeface="Wingdings" panose="05000000000000000000" pitchFamily="2" charset="2"/>
              <a:buChar char="Ø"/>
            </a:pPr>
            <a:r>
              <a:rPr lang="en-US" sz="3200" b="0" i="0" dirty="0">
                <a:solidFill>
                  <a:srgbClr val="292929"/>
                </a:solidFill>
                <a:effectLst/>
                <a:latin typeface="Rubik"/>
              </a:rPr>
              <a:t>The due diligence phase varies depending upon the nature of the business proposal.</a:t>
            </a:r>
          </a:p>
          <a:p>
            <a:pPr marL="457200" indent="-457200" algn="just">
              <a:buFont typeface="Wingdings" panose="05000000000000000000" pitchFamily="2" charset="2"/>
              <a:buChar char="Ø"/>
            </a:pPr>
            <a:r>
              <a:rPr lang="en-US" sz="3200" b="0" i="0" dirty="0">
                <a:solidFill>
                  <a:srgbClr val="292929"/>
                </a:solidFill>
                <a:effectLst/>
                <a:latin typeface="Rubik"/>
              </a:rPr>
              <a:t> This process involves solving of queries related to customer references, product and business strategy evaluations, management interviews, and other such exchanges of information during this time period.</a:t>
            </a:r>
          </a:p>
          <a:p>
            <a:endParaRPr lang="en-IN" dirty="0"/>
          </a:p>
        </p:txBody>
      </p:sp>
    </p:spTree>
    <p:extLst>
      <p:ext uri="{BB962C8B-B14F-4D97-AF65-F5344CB8AC3E}">
        <p14:creationId xmlns:p14="http://schemas.microsoft.com/office/powerpoint/2010/main" val="1873505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BD59521-A3BA-4972-B365-E271524BAA84}"/>
              </a:ext>
            </a:extLst>
          </p:cNvPr>
          <p:cNvSpPr>
            <a:spLocks noGrp="1"/>
          </p:cNvSpPr>
          <p:nvPr>
            <p:ph type="subTitle" idx="1"/>
          </p:nvPr>
        </p:nvSpPr>
        <p:spPr>
          <a:xfrm>
            <a:off x="88777" y="0"/>
            <a:ext cx="11833934" cy="6858000"/>
          </a:xfrm>
        </p:spPr>
        <p:txBody>
          <a:bodyPr>
            <a:normAutofit fontScale="77500" lnSpcReduction="20000"/>
          </a:bodyPr>
          <a:lstStyle/>
          <a:p>
            <a:pPr algn="l"/>
            <a:r>
              <a:rPr lang="en-US" b="0" i="0" dirty="0">
                <a:solidFill>
                  <a:srgbClr val="292929"/>
                </a:solidFill>
                <a:effectLst/>
                <a:latin typeface="Rubik"/>
              </a:rPr>
              <a:t>Step 4: Term Sheets and Funding</a:t>
            </a:r>
          </a:p>
          <a:p>
            <a:pPr marL="342900" indent="-342900" algn="just">
              <a:buFont typeface="Wingdings" panose="05000000000000000000" pitchFamily="2" charset="2"/>
              <a:buChar char="Ø"/>
            </a:pPr>
            <a:r>
              <a:rPr lang="en-US" sz="3000" b="0" i="0" dirty="0">
                <a:solidFill>
                  <a:srgbClr val="292929"/>
                </a:solidFill>
                <a:effectLst/>
                <a:latin typeface="Rubik"/>
              </a:rPr>
              <a:t>If the due diligence phase is satisfactory, the VC offers a term sheet, which is a non-binding document explaining the basic terms and conditions of the investment agreement. </a:t>
            </a:r>
          </a:p>
          <a:p>
            <a:pPr marL="342900" indent="-342900" algn="just">
              <a:buFont typeface="Wingdings" panose="05000000000000000000" pitchFamily="2" charset="2"/>
              <a:buChar char="Ø"/>
            </a:pPr>
            <a:r>
              <a:rPr lang="en-US" sz="3000" b="0" i="0" dirty="0">
                <a:solidFill>
                  <a:srgbClr val="292929"/>
                </a:solidFill>
                <a:effectLst/>
                <a:latin typeface="Rubik"/>
              </a:rPr>
              <a:t>The term sheet is generally negotiable and must be agreed upon by all parties, after which on completion of legal documents and legal due diligence, funds are made available.</a:t>
            </a:r>
          </a:p>
          <a:p>
            <a:pPr marL="342900" indent="-342900" algn="just">
              <a:buFont typeface="Wingdings" panose="05000000000000000000" pitchFamily="2" charset="2"/>
              <a:buChar char="Ø"/>
            </a:pPr>
            <a:r>
              <a:rPr lang="en-US" sz="3000" b="0" i="0" dirty="0">
                <a:solidFill>
                  <a:srgbClr val="292929"/>
                </a:solidFill>
                <a:effectLst/>
                <a:latin typeface="Rubik"/>
              </a:rPr>
              <a:t>Types of Venture Capital funding</a:t>
            </a:r>
          </a:p>
          <a:p>
            <a:pPr marL="342900" indent="-342900" algn="just">
              <a:buFont typeface="Wingdings" panose="05000000000000000000" pitchFamily="2" charset="2"/>
              <a:buChar char="Ø"/>
            </a:pPr>
            <a:r>
              <a:rPr lang="en-US" sz="3000" b="0" i="0" dirty="0">
                <a:solidFill>
                  <a:srgbClr val="292929"/>
                </a:solidFill>
                <a:effectLst/>
                <a:latin typeface="Rubik"/>
              </a:rPr>
              <a:t>The various types of venture capital are classified as per their applications at various stages of a business. The three principal types of venture capital are early stage financing, expansion financing and acquisition/buyout financing.</a:t>
            </a:r>
          </a:p>
          <a:p>
            <a:pPr marL="342900" indent="-342900" algn="just">
              <a:buFont typeface="Wingdings" panose="05000000000000000000" pitchFamily="2" charset="2"/>
              <a:buChar char="Ø"/>
            </a:pPr>
            <a:r>
              <a:rPr lang="en-US" sz="3000" b="0" i="0" dirty="0">
                <a:solidFill>
                  <a:srgbClr val="292929"/>
                </a:solidFill>
                <a:effectLst/>
                <a:latin typeface="Rubik"/>
              </a:rPr>
              <a:t>The venture capital funding procedure gets complete in six stages of financing corresponding to the periods of a company’s development</a:t>
            </a:r>
          </a:p>
          <a:p>
            <a:pPr marL="342900" indent="-342900" algn="just">
              <a:buFont typeface="Wingdings" panose="05000000000000000000" pitchFamily="2" charset="2"/>
              <a:buChar char="Ø"/>
            </a:pPr>
            <a:r>
              <a:rPr lang="en-US" sz="3000" b="0" i="1" dirty="0">
                <a:solidFill>
                  <a:srgbClr val="000000"/>
                </a:solidFill>
                <a:effectLst/>
                <a:latin typeface="Rubik"/>
              </a:rPr>
              <a:t>Seed money: Low level financing for proving and fructifying a new idea</a:t>
            </a:r>
            <a:endParaRPr lang="en-US" sz="3000" b="0" i="0" dirty="0">
              <a:solidFill>
                <a:srgbClr val="000000"/>
              </a:solidFill>
              <a:effectLst/>
              <a:latin typeface="Rubik"/>
            </a:endParaRPr>
          </a:p>
          <a:p>
            <a:pPr marL="342900" indent="-342900" algn="just">
              <a:buFont typeface="Wingdings" panose="05000000000000000000" pitchFamily="2" charset="2"/>
              <a:buChar char="Ø"/>
            </a:pPr>
            <a:r>
              <a:rPr lang="en-US" sz="3000" b="0" i="1" dirty="0">
                <a:solidFill>
                  <a:srgbClr val="000000"/>
                </a:solidFill>
                <a:effectLst/>
                <a:latin typeface="Rubik"/>
              </a:rPr>
              <a:t>Start-up: New firms needing funds for expenses related with </a:t>
            </a:r>
            <a:r>
              <a:rPr lang="en-US" sz="3000" b="0" i="1" dirty="0" err="1">
                <a:solidFill>
                  <a:srgbClr val="000000"/>
                </a:solidFill>
                <a:effectLst/>
                <a:latin typeface="Rubik"/>
              </a:rPr>
              <a:t>marketingand</a:t>
            </a:r>
            <a:r>
              <a:rPr lang="en-US" sz="3000" b="0" i="1" dirty="0">
                <a:solidFill>
                  <a:srgbClr val="000000"/>
                </a:solidFill>
                <a:effectLst/>
                <a:latin typeface="Rubik"/>
              </a:rPr>
              <a:t> product development</a:t>
            </a:r>
            <a:endParaRPr lang="en-US" sz="3000" b="0" i="0" dirty="0">
              <a:solidFill>
                <a:srgbClr val="000000"/>
              </a:solidFill>
              <a:effectLst/>
              <a:latin typeface="Rubik"/>
            </a:endParaRPr>
          </a:p>
          <a:p>
            <a:pPr marL="342900" indent="-342900" algn="just">
              <a:buFont typeface="Wingdings" panose="05000000000000000000" pitchFamily="2" charset="2"/>
              <a:buChar char="Ø"/>
            </a:pPr>
            <a:r>
              <a:rPr lang="en-US" sz="3000" b="0" i="1" dirty="0">
                <a:solidFill>
                  <a:srgbClr val="000000"/>
                </a:solidFill>
                <a:effectLst/>
                <a:latin typeface="Rubik"/>
              </a:rPr>
              <a:t>First-Round: Manufacturing and early sales funding</a:t>
            </a:r>
            <a:endParaRPr lang="en-US" sz="3000" b="0" i="0" dirty="0">
              <a:solidFill>
                <a:srgbClr val="000000"/>
              </a:solidFill>
              <a:effectLst/>
              <a:latin typeface="Rubik"/>
            </a:endParaRPr>
          </a:p>
          <a:p>
            <a:pPr marL="342900" indent="-342900" algn="just">
              <a:buFont typeface="Wingdings" panose="05000000000000000000" pitchFamily="2" charset="2"/>
              <a:buChar char="Ø"/>
            </a:pPr>
            <a:r>
              <a:rPr lang="en-US" sz="3000" b="0" i="1" dirty="0">
                <a:solidFill>
                  <a:srgbClr val="000000"/>
                </a:solidFill>
                <a:effectLst/>
                <a:latin typeface="Rubik"/>
              </a:rPr>
              <a:t>Second-Round: Operational capital given for early stage companies which are selling products, but not returning a profit</a:t>
            </a:r>
            <a:endParaRPr lang="en-US" sz="3000" b="0" i="0" dirty="0">
              <a:solidFill>
                <a:srgbClr val="000000"/>
              </a:solidFill>
              <a:effectLst/>
              <a:latin typeface="Rubik"/>
            </a:endParaRPr>
          </a:p>
          <a:p>
            <a:pPr marL="342900" indent="-342900" algn="just">
              <a:buFont typeface="Wingdings" panose="05000000000000000000" pitchFamily="2" charset="2"/>
              <a:buChar char="Ø"/>
            </a:pPr>
            <a:r>
              <a:rPr lang="en-US" sz="3000" b="0" i="1" dirty="0">
                <a:solidFill>
                  <a:srgbClr val="000000"/>
                </a:solidFill>
                <a:effectLst/>
                <a:latin typeface="Rubik"/>
              </a:rPr>
              <a:t>Third-Round: Also known as Mezzanine financing, this is the money for expanding a newly beneficial company</a:t>
            </a:r>
            <a:endParaRPr lang="en-US" sz="3000" b="0" i="0" dirty="0">
              <a:solidFill>
                <a:srgbClr val="000000"/>
              </a:solidFill>
              <a:effectLst/>
              <a:latin typeface="Rubik"/>
            </a:endParaRPr>
          </a:p>
          <a:p>
            <a:pPr marL="342900" indent="-342900" algn="just">
              <a:buFont typeface="Wingdings" panose="05000000000000000000" pitchFamily="2" charset="2"/>
              <a:buChar char="Ø"/>
            </a:pPr>
            <a:r>
              <a:rPr lang="en-US" sz="3000" b="0" i="1" dirty="0">
                <a:solidFill>
                  <a:srgbClr val="000000"/>
                </a:solidFill>
                <a:effectLst/>
                <a:latin typeface="Rubik"/>
              </a:rPr>
              <a:t>Fourth-Round: Also </a:t>
            </a:r>
            <a:r>
              <a:rPr lang="en-US" sz="3000" b="0" i="1" dirty="0" err="1">
                <a:solidFill>
                  <a:srgbClr val="000000"/>
                </a:solidFill>
                <a:effectLst/>
                <a:latin typeface="Rubik"/>
              </a:rPr>
              <a:t>calledbridge</a:t>
            </a:r>
            <a:r>
              <a:rPr lang="en-US" sz="3000" b="0" i="1" dirty="0">
                <a:solidFill>
                  <a:srgbClr val="000000"/>
                </a:solidFill>
                <a:effectLst/>
                <a:latin typeface="Rubik"/>
              </a:rPr>
              <a:t> financing, 4th round is proposed for financing the "going public" process</a:t>
            </a:r>
            <a:endParaRPr lang="en-US" sz="3000" b="0" i="0" dirty="0">
              <a:solidFill>
                <a:srgbClr val="000000"/>
              </a:solidFill>
              <a:effectLst/>
              <a:latin typeface="Rubik"/>
            </a:endParaRPr>
          </a:p>
          <a:p>
            <a:endParaRPr lang="en-IN" dirty="0"/>
          </a:p>
        </p:txBody>
      </p:sp>
    </p:spTree>
    <p:extLst>
      <p:ext uri="{BB962C8B-B14F-4D97-AF65-F5344CB8AC3E}">
        <p14:creationId xmlns:p14="http://schemas.microsoft.com/office/powerpoint/2010/main" val="97413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60B3838-3799-46E2-A204-89E5EE66F7C7}"/>
              </a:ext>
            </a:extLst>
          </p:cNvPr>
          <p:cNvSpPr>
            <a:spLocks noGrp="1"/>
          </p:cNvSpPr>
          <p:nvPr>
            <p:ph type="subTitle" idx="1"/>
          </p:nvPr>
        </p:nvSpPr>
        <p:spPr>
          <a:xfrm>
            <a:off x="479394" y="630315"/>
            <a:ext cx="10188606" cy="6409677"/>
          </a:xfrm>
        </p:spPr>
        <p:txBody>
          <a:bodyPr/>
          <a:lstStyle/>
          <a:p>
            <a:pPr algn="just"/>
            <a:r>
              <a:rPr lang="en-US" b="1" i="0" dirty="0">
                <a:solidFill>
                  <a:srgbClr val="222222"/>
                </a:solidFill>
                <a:effectLst/>
                <a:latin typeface="Nunito Sans" panose="020B0604020202020204" pitchFamily="2" charset="0"/>
              </a:rPr>
              <a:t>Definition</a:t>
            </a:r>
            <a:r>
              <a:rPr lang="en-US" sz="2800" b="0" i="0" dirty="0">
                <a:solidFill>
                  <a:srgbClr val="222222"/>
                </a:solidFill>
                <a:effectLst/>
                <a:latin typeface="Nunito Sans" panose="020B0604020202020204" pitchFamily="2" charset="0"/>
              </a:rPr>
              <a:t>: Seed capital is the initial fund or money which is required by a budding </a:t>
            </a:r>
            <a:r>
              <a:rPr lang="en-US" sz="2800" b="0" i="0" u="none" strike="noStrike" dirty="0">
                <a:solidFill>
                  <a:srgbClr val="3B5998"/>
                </a:solidFill>
                <a:effectLst/>
                <a:latin typeface="Nunito Sans" panose="020B0604020202020204" pitchFamily="2" charset="0"/>
                <a:hlinkClick r:id="rId2"/>
              </a:rPr>
              <a:t>entrepreneur</a:t>
            </a:r>
            <a:r>
              <a:rPr lang="en-US" sz="2800" b="0" i="0" dirty="0">
                <a:solidFill>
                  <a:srgbClr val="222222"/>
                </a:solidFill>
                <a:effectLst/>
                <a:latin typeface="Nunito Sans" panose="020B0604020202020204" pitchFamily="2" charset="0"/>
              </a:rPr>
              <a:t> to start a new </a:t>
            </a:r>
            <a:r>
              <a:rPr lang="en-US" sz="2800" b="0" i="0" u="none" strike="noStrike" dirty="0">
                <a:solidFill>
                  <a:srgbClr val="222222"/>
                </a:solidFill>
                <a:effectLst/>
                <a:latin typeface="Nunito Sans" panose="020B0604020202020204" pitchFamily="2" charset="0"/>
                <a:hlinkClick r:id="rId3"/>
              </a:rPr>
              <a:t>business</a:t>
            </a:r>
            <a:r>
              <a:rPr lang="en-US" sz="2800" b="0" i="0" dirty="0">
                <a:solidFill>
                  <a:srgbClr val="222222"/>
                </a:solidFill>
                <a:effectLst/>
                <a:latin typeface="Nunito Sans" panose="020B0604020202020204" pitchFamily="2" charset="0"/>
              </a:rPr>
              <a:t> venture. </a:t>
            </a:r>
          </a:p>
          <a:p>
            <a:pPr algn="just"/>
            <a:r>
              <a:rPr lang="en-US" sz="2800" b="0" i="0" dirty="0">
                <a:solidFill>
                  <a:srgbClr val="222222"/>
                </a:solidFill>
                <a:effectLst/>
                <a:latin typeface="Nunito Sans" panose="020B0604020202020204" pitchFamily="2" charset="0"/>
              </a:rPr>
              <a:t>‘</a:t>
            </a:r>
            <a:r>
              <a:rPr lang="en-US" sz="2800" b="0" i="1" dirty="0">
                <a:solidFill>
                  <a:srgbClr val="222222"/>
                </a:solidFill>
                <a:effectLst/>
                <a:latin typeface="Nunito Sans" panose="020B0604020202020204" pitchFamily="2" charset="0"/>
              </a:rPr>
              <a:t>Seed</a:t>
            </a:r>
            <a:r>
              <a:rPr lang="en-US" sz="2800" b="0" i="0" dirty="0">
                <a:solidFill>
                  <a:srgbClr val="222222"/>
                </a:solidFill>
                <a:effectLst/>
                <a:latin typeface="Nunito Sans" panose="020B0604020202020204" pitchFamily="2" charset="0"/>
              </a:rPr>
              <a:t>‘ here refers to the business which is at the beginning stage. ‘</a:t>
            </a:r>
            <a:r>
              <a:rPr lang="en-US" sz="2800" b="0" i="1" dirty="0">
                <a:solidFill>
                  <a:srgbClr val="222222"/>
                </a:solidFill>
                <a:effectLst/>
                <a:latin typeface="Nunito Sans" panose="020B0604020202020204" pitchFamily="2" charset="0"/>
              </a:rPr>
              <a:t>Capital</a:t>
            </a:r>
            <a:r>
              <a:rPr lang="en-US" sz="2800" b="0" i="0" dirty="0">
                <a:solidFill>
                  <a:srgbClr val="222222"/>
                </a:solidFill>
                <a:effectLst/>
                <a:latin typeface="Nunito Sans" panose="020B0604020202020204" pitchFamily="2" charset="0"/>
              </a:rPr>
              <a:t>‘ refers to the money or funds required at the very beginning of a business.</a:t>
            </a:r>
          </a:p>
          <a:p>
            <a:pPr algn="just"/>
            <a:r>
              <a:rPr lang="en-IN" sz="2800" b="0" i="0" dirty="0">
                <a:solidFill>
                  <a:srgbClr val="222222"/>
                </a:solidFill>
                <a:effectLst/>
                <a:latin typeface="Raleway" pitchFamily="2" charset="0"/>
              </a:rPr>
              <a:t>Content: Seed Capital</a:t>
            </a:r>
          </a:p>
          <a:p>
            <a:pPr algn="just">
              <a:buFont typeface="+mj-lt"/>
              <a:buAutoNum type="arabicPeriod"/>
            </a:pPr>
            <a:r>
              <a:rPr lang="en-IN" sz="2800" b="0" i="0" u="none" strike="noStrike" dirty="0">
                <a:solidFill>
                  <a:srgbClr val="3B5998"/>
                </a:solidFill>
                <a:effectLst/>
                <a:latin typeface="Nunito Sans" pitchFamily="2" charset="0"/>
                <a:hlinkClick r:id="rId4"/>
              </a:rPr>
              <a:t>Sources</a:t>
            </a:r>
            <a:endParaRPr lang="en-IN" sz="2800" b="0" i="0" dirty="0">
              <a:solidFill>
                <a:srgbClr val="222222"/>
              </a:solidFill>
              <a:effectLst/>
              <a:latin typeface="Nunito Sans" pitchFamily="2" charset="0"/>
            </a:endParaRPr>
          </a:p>
          <a:p>
            <a:pPr algn="just">
              <a:buFont typeface="+mj-lt"/>
              <a:buAutoNum type="arabicPeriod"/>
            </a:pPr>
            <a:r>
              <a:rPr lang="en-IN" sz="2800" b="0" i="0" u="none" strike="noStrike" dirty="0">
                <a:solidFill>
                  <a:srgbClr val="222222"/>
                </a:solidFill>
                <a:effectLst/>
                <a:latin typeface="Nunito Sans" pitchFamily="2" charset="0"/>
                <a:hlinkClick r:id="rId5"/>
              </a:rPr>
              <a:t>Advantages</a:t>
            </a:r>
            <a:endParaRPr lang="en-IN" sz="2800" b="0" i="0" dirty="0">
              <a:solidFill>
                <a:srgbClr val="222222"/>
              </a:solidFill>
              <a:effectLst/>
              <a:latin typeface="Nunito Sans" pitchFamily="2" charset="0"/>
            </a:endParaRPr>
          </a:p>
          <a:p>
            <a:pPr algn="just">
              <a:buFont typeface="+mj-lt"/>
              <a:buAutoNum type="arabicPeriod"/>
            </a:pPr>
            <a:r>
              <a:rPr lang="en-IN" sz="2800" b="0" i="0" u="none" strike="noStrike" dirty="0">
                <a:solidFill>
                  <a:srgbClr val="3B5998"/>
                </a:solidFill>
                <a:effectLst/>
                <a:latin typeface="Nunito Sans" pitchFamily="2" charset="0"/>
                <a:hlinkClick r:id="rId6"/>
              </a:rPr>
              <a:t>Disadvantages</a:t>
            </a:r>
            <a:endParaRPr lang="en-IN" sz="2800" b="0" i="0" dirty="0">
              <a:solidFill>
                <a:srgbClr val="222222"/>
              </a:solidFill>
              <a:effectLst/>
              <a:latin typeface="Nunito Sans" pitchFamily="2" charset="0"/>
            </a:endParaRPr>
          </a:p>
          <a:p>
            <a:pPr algn="just">
              <a:buFont typeface="+mj-lt"/>
              <a:buAutoNum type="arabicPeriod"/>
            </a:pPr>
            <a:r>
              <a:rPr lang="en-IN" sz="2800" b="0" i="0" u="none" strike="noStrike" dirty="0">
                <a:solidFill>
                  <a:srgbClr val="3B5998"/>
                </a:solidFill>
                <a:effectLst/>
                <a:latin typeface="Nunito Sans" pitchFamily="2" charset="0"/>
                <a:hlinkClick r:id="rId7"/>
              </a:rPr>
              <a:t>Conclusion</a:t>
            </a:r>
            <a:endParaRPr lang="en-IN" sz="2800" b="0" i="0" dirty="0">
              <a:solidFill>
                <a:srgbClr val="222222"/>
              </a:solidFill>
              <a:effectLst/>
              <a:latin typeface="Nunito Sans" pitchFamily="2" charset="0"/>
            </a:endParaRPr>
          </a:p>
          <a:p>
            <a:endParaRPr lang="en-IN" dirty="0"/>
          </a:p>
        </p:txBody>
      </p:sp>
    </p:spTree>
    <p:extLst>
      <p:ext uri="{BB962C8B-B14F-4D97-AF65-F5344CB8AC3E}">
        <p14:creationId xmlns:p14="http://schemas.microsoft.com/office/powerpoint/2010/main" val="2922968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49E0716-E254-4CD2-A62B-0BF2F5F60234}"/>
              </a:ext>
            </a:extLst>
          </p:cNvPr>
          <p:cNvSpPr>
            <a:spLocks noGrp="1"/>
          </p:cNvSpPr>
          <p:nvPr>
            <p:ph type="subTitle" idx="1"/>
          </p:nvPr>
        </p:nvSpPr>
        <p:spPr>
          <a:xfrm>
            <a:off x="772357" y="195309"/>
            <a:ext cx="10786369" cy="6214369"/>
          </a:xfrm>
        </p:spPr>
        <p:txBody>
          <a:bodyPr/>
          <a:lstStyle/>
          <a:p>
            <a:pPr marL="342900" indent="-342900" algn="just">
              <a:buFont typeface="Wingdings" panose="05000000000000000000" pitchFamily="2" charset="2"/>
              <a:buChar char="Ø"/>
            </a:pPr>
            <a:r>
              <a:rPr lang="en-US" b="0" i="0" dirty="0">
                <a:solidFill>
                  <a:srgbClr val="222222"/>
                </a:solidFill>
                <a:effectLst/>
                <a:latin typeface="Raleway" pitchFamily="2" charset="0"/>
              </a:rPr>
              <a:t>Sources of Startup Seed Capital</a:t>
            </a:r>
          </a:p>
          <a:p>
            <a:pPr marL="342900" indent="-342900" algn="just">
              <a:buFont typeface="Wingdings" panose="05000000000000000000" pitchFamily="2" charset="2"/>
              <a:buChar char="Ø"/>
            </a:pPr>
            <a:r>
              <a:rPr lang="en-US" b="0" i="0" dirty="0">
                <a:solidFill>
                  <a:srgbClr val="222222"/>
                </a:solidFill>
                <a:effectLst/>
                <a:latin typeface="Nunito Sans" pitchFamily="2" charset="0"/>
              </a:rPr>
              <a:t>The startups require a substantial financial backup at the initial stage of the business to fulfil various requirements, such as meeting the operating expenses and grabbing new business opportunities.</a:t>
            </a:r>
          </a:p>
          <a:p>
            <a:pPr marL="342900" indent="-342900" algn="just">
              <a:buFont typeface="Wingdings" panose="05000000000000000000" pitchFamily="2" charset="2"/>
              <a:buChar char="Ø"/>
            </a:pPr>
            <a:r>
              <a:rPr lang="en-US" b="0" i="0" dirty="0">
                <a:solidFill>
                  <a:srgbClr val="222222"/>
                </a:solidFill>
                <a:effectLst/>
                <a:latin typeface="Nunito Sans" pitchFamily="2" charset="0"/>
              </a:rPr>
              <a:t>Therefore, to acquire the initial capital for the business, the budding entrepreneur has the following means:</a:t>
            </a:r>
          </a:p>
          <a:p>
            <a:pPr marL="342900" indent="-342900" algn="just">
              <a:buFont typeface="Wingdings" panose="05000000000000000000" pitchFamily="2" charset="2"/>
              <a:buChar char="Ø"/>
            </a:pPr>
            <a:r>
              <a:rPr lang="en-US" b="1" i="0" dirty="0">
                <a:solidFill>
                  <a:srgbClr val="222222"/>
                </a:solidFill>
                <a:effectLst/>
                <a:latin typeface="Nunito Sans" pitchFamily="2" charset="0"/>
              </a:rPr>
              <a:t>Friends and Family</a:t>
            </a:r>
            <a:endParaRPr lang="en-US" b="0" i="0" dirty="0">
              <a:solidFill>
                <a:srgbClr val="222222"/>
              </a:solidFill>
              <a:effectLst/>
              <a:latin typeface="Nunito Sans" pitchFamily="2" charset="0"/>
            </a:endParaRPr>
          </a:p>
          <a:p>
            <a:pPr marL="342900" indent="-342900" algn="just">
              <a:buFont typeface="Wingdings" panose="05000000000000000000" pitchFamily="2" charset="2"/>
              <a:buChar char="Ø"/>
            </a:pPr>
            <a:r>
              <a:rPr lang="en-US" b="0" i="0" dirty="0">
                <a:solidFill>
                  <a:srgbClr val="222222"/>
                </a:solidFill>
                <a:effectLst/>
                <a:latin typeface="Nunito Sans" pitchFamily="2" charset="0"/>
              </a:rPr>
              <a:t>The easiest way of raising fund for a startup is through family or friends since they are familiar with the budding entrepreneur and his/her idea. </a:t>
            </a:r>
          </a:p>
          <a:p>
            <a:pPr marL="342900" indent="-342900" algn="just">
              <a:buFont typeface="Wingdings" panose="05000000000000000000" pitchFamily="2" charset="2"/>
              <a:buChar char="Ø"/>
            </a:pPr>
            <a:r>
              <a:rPr lang="en-US" b="0" i="0" dirty="0">
                <a:solidFill>
                  <a:srgbClr val="222222"/>
                </a:solidFill>
                <a:effectLst/>
                <a:latin typeface="Nunito Sans" pitchFamily="2" charset="0"/>
              </a:rPr>
              <a:t>However, one must be careful while opting this source, as losing money may spoil relations with the lender.</a:t>
            </a:r>
          </a:p>
          <a:p>
            <a:pPr marL="342900" indent="-342900" algn="just">
              <a:buFont typeface="Wingdings" panose="05000000000000000000" pitchFamily="2" charset="2"/>
              <a:buChar char="Ø"/>
            </a:pPr>
            <a:endParaRPr lang="en-US" b="0" i="0" dirty="0">
              <a:solidFill>
                <a:srgbClr val="222222"/>
              </a:solidFill>
              <a:effectLst/>
              <a:latin typeface="Nunito Sans" pitchFamily="2" charset="0"/>
            </a:endParaRPr>
          </a:p>
          <a:p>
            <a:endParaRPr lang="en-IN" dirty="0"/>
          </a:p>
        </p:txBody>
      </p:sp>
    </p:spTree>
    <p:extLst>
      <p:ext uri="{BB962C8B-B14F-4D97-AF65-F5344CB8AC3E}">
        <p14:creationId xmlns:p14="http://schemas.microsoft.com/office/powerpoint/2010/main" val="2303941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1C7CF6B-1F4A-4C6F-B842-06D7F36207C0}"/>
              </a:ext>
            </a:extLst>
          </p:cNvPr>
          <p:cNvSpPr>
            <a:spLocks noGrp="1"/>
          </p:cNvSpPr>
          <p:nvPr>
            <p:ph type="subTitle" idx="1"/>
          </p:nvPr>
        </p:nvSpPr>
        <p:spPr>
          <a:xfrm>
            <a:off x="346229" y="133165"/>
            <a:ext cx="10795247" cy="6285390"/>
          </a:xfrm>
        </p:spPr>
        <p:txBody>
          <a:bodyPr/>
          <a:lstStyle/>
          <a:p>
            <a:pPr marL="342900" indent="-342900" algn="just">
              <a:buFont typeface="Wingdings" panose="05000000000000000000" pitchFamily="2" charset="2"/>
              <a:buChar char="Ø"/>
            </a:pPr>
            <a:r>
              <a:rPr lang="en-US" b="1" i="0" dirty="0">
                <a:solidFill>
                  <a:srgbClr val="222222"/>
                </a:solidFill>
                <a:effectLst/>
                <a:latin typeface="Nunito Sans" pitchFamily="2" charset="0"/>
              </a:rPr>
              <a:t>Bootstrapping</a:t>
            </a:r>
            <a:endParaRPr lang="en-US" b="0" i="0" dirty="0">
              <a:solidFill>
                <a:srgbClr val="222222"/>
              </a:solidFill>
              <a:effectLst/>
              <a:latin typeface="Nunito Sans" pitchFamily="2" charset="0"/>
            </a:endParaRPr>
          </a:p>
          <a:p>
            <a:pPr marL="342900" indent="-342900" algn="just">
              <a:buFont typeface="Wingdings" panose="05000000000000000000" pitchFamily="2" charset="2"/>
              <a:buChar char="Ø"/>
            </a:pPr>
            <a:r>
              <a:rPr lang="en-US" b="0" i="0" dirty="0">
                <a:solidFill>
                  <a:srgbClr val="222222"/>
                </a:solidFill>
                <a:effectLst/>
                <a:latin typeface="Nunito Sans" pitchFamily="2" charset="0"/>
              </a:rPr>
              <a:t>Savings is a vital source of raising initial funds for a startup. Even the investors hesitate to put in their money in a new business which lacks self-raised capital.</a:t>
            </a:r>
          </a:p>
          <a:p>
            <a:pPr marL="342900" indent="-342900" algn="just">
              <a:buFont typeface="Wingdings" panose="05000000000000000000" pitchFamily="2" charset="2"/>
              <a:buChar char="Ø"/>
            </a:pPr>
            <a:r>
              <a:rPr lang="en-US" b="0" i="1" dirty="0">
                <a:solidFill>
                  <a:srgbClr val="222222"/>
                </a:solidFill>
                <a:effectLst/>
                <a:latin typeface="Nunito Sans" pitchFamily="2" charset="0"/>
              </a:rPr>
              <a:t>For Example</a:t>
            </a:r>
            <a:r>
              <a:rPr lang="en-US" b="0" i="0" dirty="0">
                <a:solidFill>
                  <a:srgbClr val="222222"/>
                </a:solidFill>
                <a:effectLst/>
                <a:latin typeface="Nunito Sans" pitchFamily="2" charset="0"/>
              </a:rPr>
              <a:t>; A person withdraws the amount from his bank’s savings account to start his business.</a:t>
            </a:r>
          </a:p>
          <a:p>
            <a:pPr marL="342900" indent="-342900" algn="just">
              <a:buFont typeface="Wingdings" panose="05000000000000000000" pitchFamily="2" charset="2"/>
              <a:buChar char="Ø"/>
            </a:pPr>
            <a:r>
              <a:rPr lang="en-US" b="1" i="0" dirty="0">
                <a:solidFill>
                  <a:srgbClr val="222222"/>
                </a:solidFill>
                <a:effectLst/>
                <a:latin typeface="Nunito Sans" pitchFamily="2" charset="0"/>
              </a:rPr>
              <a:t>Loans or Lines of Credit</a:t>
            </a:r>
            <a:endParaRPr lang="en-US" b="0" i="0" dirty="0">
              <a:solidFill>
                <a:srgbClr val="222222"/>
              </a:solidFill>
              <a:effectLst/>
              <a:latin typeface="Nunito Sans" pitchFamily="2" charset="0"/>
            </a:endParaRPr>
          </a:p>
          <a:p>
            <a:pPr marL="342900" indent="-342900" algn="just">
              <a:buFont typeface="Wingdings" panose="05000000000000000000" pitchFamily="2" charset="2"/>
              <a:buChar char="Ø"/>
            </a:pPr>
            <a:r>
              <a:rPr lang="en-US" b="0" i="0" dirty="0">
                <a:solidFill>
                  <a:srgbClr val="222222"/>
                </a:solidFill>
                <a:effectLst/>
                <a:latin typeface="Nunito Sans" pitchFamily="2" charset="0"/>
              </a:rPr>
              <a:t>To avail small borrowings from external sources, a budding entrepreneur may go for loans or </a:t>
            </a:r>
            <a:r>
              <a:rPr lang="en-US" b="0" i="0" u="none" strike="noStrike" dirty="0">
                <a:solidFill>
                  <a:srgbClr val="3B5998"/>
                </a:solidFill>
                <a:effectLst/>
                <a:latin typeface="Nunito Sans" pitchFamily="2" charset="0"/>
                <a:hlinkClick r:id="rId2"/>
              </a:rPr>
              <a:t>lines of credit</a:t>
            </a:r>
            <a:r>
              <a:rPr lang="en-US" b="0" i="0" dirty="0">
                <a:solidFill>
                  <a:srgbClr val="222222"/>
                </a:solidFill>
                <a:effectLst/>
                <a:latin typeface="Nunito Sans" pitchFamily="2" charset="0"/>
              </a:rPr>
              <a:t> from commercial banks. However, this source may require to keep personal collateral with the lender for security.</a:t>
            </a:r>
          </a:p>
          <a:p>
            <a:pPr marL="342900" indent="-342900" algn="just">
              <a:buFont typeface="Wingdings" panose="05000000000000000000" pitchFamily="2" charset="2"/>
              <a:buChar char="Ø"/>
            </a:pPr>
            <a:r>
              <a:rPr lang="en-US" b="1" i="0" dirty="0">
                <a:solidFill>
                  <a:srgbClr val="222222"/>
                </a:solidFill>
                <a:effectLst/>
                <a:latin typeface="Nunito Sans" pitchFamily="2" charset="0"/>
              </a:rPr>
              <a:t>Small Business Grants</a:t>
            </a:r>
            <a:endParaRPr lang="en-US" b="0" i="0" dirty="0">
              <a:solidFill>
                <a:srgbClr val="222222"/>
              </a:solidFill>
              <a:effectLst/>
              <a:latin typeface="Nunito Sans" pitchFamily="2" charset="0"/>
            </a:endParaRPr>
          </a:p>
          <a:p>
            <a:pPr marL="342900" indent="-342900" algn="just">
              <a:buFont typeface="Wingdings" panose="05000000000000000000" pitchFamily="2" charset="2"/>
              <a:buChar char="Ø"/>
            </a:pPr>
            <a:r>
              <a:rPr lang="en-US" b="0" i="0" dirty="0">
                <a:solidFill>
                  <a:srgbClr val="222222"/>
                </a:solidFill>
                <a:effectLst/>
                <a:latin typeface="Nunito Sans" pitchFamily="2" charset="0"/>
              </a:rPr>
              <a:t>If one is lucky enough, he/she may get a small business grant from central, state or local government or big business entities. The funds so acquired need not be repaid by the budding entrepreneur.</a:t>
            </a:r>
          </a:p>
          <a:p>
            <a:pPr marL="342900" indent="-342900" algn="just">
              <a:buFont typeface="Wingdings" panose="05000000000000000000" pitchFamily="2" charset="2"/>
              <a:buChar char="Ø"/>
            </a:pPr>
            <a:endParaRPr lang="en-US" b="0" i="0" dirty="0">
              <a:solidFill>
                <a:srgbClr val="222222"/>
              </a:solidFill>
              <a:effectLst/>
              <a:latin typeface="Nunito Sans" pitchFamily="2" charset="0"/>
            </a:endParaRPr>
          </a:p>
          <a:p>
            <a:pPr algn="l"/>
            <a:endParaRPr lang="en-US" b="0" i="0" dirty="0">
              <a:solidFill>
                <a:srgbClr val="222222"/>
              </a:solidFill>
              <a:effectLst/>
              <a:latin typeface="Nunito Sans" pitchFamily="2" charset="0"/>
            </a:endParaRPr>
          </a:p>
          <a:p>
            <a:endParaRPr lang="en-IN" dirty="0"/>
          </a:p>
        </p:txBody>
      </p:sp>
    </p:spTree>
    <p:extLst>
      <p:ext uri="{BB962C8B-B14F-4D97-AF65-F5344CB8AC3E}">
        <p14:creationId xmlns:p14="http://schemas.microsoft.com/office/powerpoint/2010/main" val="3636656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916502-7E8D-4870-A0D1-4F454E2870BC}"/>
              </a:ext>
            </a:extLst>
          </p:cNvPr>
          <p:cNvSpPr>
            <a:spLocks noGrp="1"/>
          </p:cNvSpPr>
          <p:nvPr>
            <p:ph type="subTitle" idx="1"/>
          </p:nvPr>
        </p:nvSpPr>
        <p:spPr>
          <a:xfrm>
            <a:off x="372861" y="363983"/>
            <a:ext cx="11478827" cy="6604987"/>
          </a:xfrm>
        </p:spPr>
        <p:txBody>
          <a:bodyPr/>
          <a:lstStyle/>
          <a:p>
            <a:pPr algn="l"/>
            <a:r>
              <a:rPr lang="en-US" b="1" i="0" dirty="0">
                <a:solidFill>
                  <a:srgbClr val="222222"/>
                </a:solidFill>
                <a:effectLst/>
                <a:latin typeface="Nunito Sans" pitchFamily="2" charset="0"/>
              </a:rPr>
              <a:t>Microloans</a:t>
            </a:r>
            <a:endParaRPr lang="en-US" b="0" i="0" dirty="0">
              <a:solidFill>
                <a:srgbClr val="222222"/>
              </a:solidFill>
              <a:effectLst/>
              <a:latin typeface="Nunito Sans" pitchFamily="2" charset="0"/>
            </a:endParaRPr>
          </a:p>
          <a:p>
            <a:pPr marL="342900" indent="-342900" algn="l">
              <a:buFont typeface="Wingdings" panose="05000000000000000000" pitchFamily="2" charset="2"/>
              <a:buChar char="Ø"/>
            </a:pPr>
            <a:r>
              <a:rPr lang="en-US" b="0" i="0" dirty="0">
                <a:solidFill>
                  <a:srgbClr val="222222"/>
                </a:solidFill>
                <a:effectLst/>
                <a:latin typeface="Nunito Sans" pitchFamily="2" charset="0"/>
              </a:rPr>
              <a:t>These are small business loans offered by an individual or a group of individuals at a slightly lower interest rate for startups.</a:t>
            </a:r>
          </a:p>
          <a:p>
            <a:pPr marL="342900" indent="-342900" algn="l">
              <a:buFont typeface="Wingdings" panose="05000000000000000000" pitchFamily="2" charset="2"/>
              <a:buChar char="Ø"/>
            </a:pPr>
            <a:r>
              <a:rPr lang="en-US" b="0" i="0" dirty="0">
                <a:solidFill>
                  <a:srgbClr val="111111"/>
                </a:solidFill>
                <a:effectLst/>
                <a:latin typeface="Cabin-semi-bold"/>
              </a:rPr>
              <a:t>What Is Private Equity?</a:t>
            </a:r>
          </a:p>
          <a:p>
            <a:pPr marL="342900" indent="-342900" algn="l">
              <a:buFont typeface="Wingdings" panose="05000000000000000000" pitchFamily="2" charset="2"/>
              <a:buChar char="Ø"/>
            </a:pPr>
            <a:r>
              <a:rPr lang="en-US" b="0" i="0" dirty="0">
                <a:solidFill>
                  <a:srgbClr val="111111"/>
                </a:solidFill>
                <a:effectLst/>
                <a:latin typeface="SourceSansPro"/>
              </a:rPr>
              <a:t>Private equity is an </a:t>
            </a:r>
            <a:r>
              <a:rPr lang="en-US" b="0" i="0" u="sng" dirty="0">
                <a:solidFill>
                  <a:srgbClr val="2C40D0"/>
                </a:solidFill>
                <a:effectLst/>
                <a:latin typeface="SourceSansPro"/>
                <a:hlinkClick r:id="rId2"/>
              </a:rPr>
              <a:t>alternative investment</a:t>
            </a:r>
            <a:r>
              <a:rPr lang="en-US" b="0" i="0" dirty="0">
                <a:solidFill>
                  <a:srgbClr val="111111"/>
                </a:solidFill>
                <a:effectLst/>
                <a:latin typeface="SourceSansPro"/>
              </a:rPr>
              <a:t> class and consists of capital that is not listed on a public exchange.</a:t>
            </a:r>
          </a:p>
          <a:p>
            <a:pPr marL="342900" indent="-342900" algn="l">
              <a:buFont typeface="Wingdings" panose="05000000000000000000" pitchFamily="2" charset="2"/>
              <a:buChar char="Ø"/>
            </a:pPr>
            <a:r>
              <a:rPr lang="en-US" b="0" i="0" dirty="0">
                <a:solidFill>
                  <a:srgbClr val="111111"/>
                </a:solidFill>
                <a:effectLst/>
                <a:latin typeface="SourceSansPro"/>
              </a:rPr>
              <a:t> Private equity is composed of funds and investors that directly invest in </a:t>
            </a:r>
            <a:r>
              <a:rPr lang="en-US" b="0" i="0" u="sng" dirty="0">
                <a:solidFill>
                  <a:srgbClr val="2C40D0"/>
                </a:solidFill>
                <a:effectLst/>
                <a:latin typeface="SourceSansPro"/>
                <a:hlinkClick r:id="rId3"/>
              </a:rPr>
              <a:t>private companies</a:t>
            </a:r>
            <a:r>
              <a:rPr lang="en-US" b="0" i="0" dirty="0">
                <a:solidFill>
                  <a:srgbClr val="111111"/>
                </a:solidFill>
                <a:effectLst/>
                <a:latin typeface="SourceSansPro"/>
              </a:rPr>
              <a:t>, or that engage in </a:t>
            </a:r>
            <a:r>
              <a:rPr lang="en-US" b="0" i="0" u="none" strike="noStrike" dirty="0">
                <a:solidFill>
                  <a:srgbClr val="2333A6"/>
                </a:solidFill>
                <a:effectLst/>
                <a:latin typeface="SourceSansPro"/>
                <a:hlinkClick r:id="rId4"/>
              </a:rPr>
              <a:t>buyouts</a:t>
            </a:r>
            <a:r>
              <a:rPr lang="en-US" b="0" i="0" dirty="0">
                <a:solidFill>
                  <a:srgbClr val="111111"/>
                </a:solidFill>
                <a:effectLst/>
                <a:latin typeface="SourceSansPro"/>
              </a:rPr>
              <a:t> of public companies, resulting in the </a:t>
            </a:r>
            <a:r>
              <a:rPr lang="en-US" b="0" i="0" u="sng" dirty="0">
                <a:solidFill>
                  <a:srgbClr val="2C40D0"/>
                </a:solidFill>
                <a:effectLst/>
                <a:latin typeface="SourceSansPro"/>
                <a:hlinkClick r:id="rId5"/>
              </a:rPr>
              <a:t>delisting</a:t>
            </a:r>
            <a:r>
              <a:rPr lang="en-US" b="0" i="0" dirty="0">
                <a:solidFill>
                  <a:srgbClr val="111111"/>
                </a:solidFill>
                <a:effectLst/>
                <a:latin typeface="SourceSansPro"/>
              </a:rPr>
              <a:t> of public equity. </a:t>
            </a:r>
          </a:p>
          <a:p>
            <a:pPr marL="342900" indent="-342900" algn="l">
              <a:buFont typeface="Wingdings" panose="05000000000000000000" pitchFamily="2" charset="2"/>
              <a:buChar char="Ø"/>
            </a:pPr>
            <a:r>
              <a:rPr lang="en-US" b="0" i="0" dirty="0">
                <a:solidFill>
                  <a:srgbClr val="111111"/>
                </a:solidFill>
                <a:effectLst/>
                <a:latin typeface="SourceSansPro"/>
              </a:rPr>
              <a:t>Institutional and retail investors provide the capital for private equity, and the capital can be utilized to fund new technology, make </a:t>
            </a:r>
            <a:r>
              <a:rPr lang="en-US" b="0" i="0" u="sng" dirty="0">
                <a:solidFill>
                  <a:srgbClr val="2C40D0"/>
                </a:solidFill>
                <a:effectLst/>
                <a:latin typeface="SourceSansPro"/>
                <a:hlinkClick r:id="rId6"/>
              </a:rPr>
              <a:t>acquisitions</a:t>
            </a:r>
            <a:r>
              <a:rPr lang="en-US" b="0" i="0" dirty="0">
                <a:solidFill>
                  <a:srgbClr val="111111"/>
                </a:solidFill>
                <a:effectLst/>
                <a:latin typeface="SourceSansPro"/>
              </a:rPr>
              <a:t>, expand working capital, and to bolster and solidify a balance sheet</a:t>
            </a:r>
          </a:p>
          <a:p>
            <a:pPr marL="342900" indent="-342900" algn="l">
              <a:buFont typeface="Wingdings" panose="05000000000000000000" pitchFamily="2" charset="2"/>
              <a:buChar char="Ø"/>
            </a:pPr>
            <a:r>
              <a:rPr lang="en-US" b="0" i="0" dirty="0">
                <a:solidFill>
                  <a:srgbClr val="111111"/>
                </a:solidFill>
                <a:effectLst/>
                <a:latin typeface="SourceSansPro"/>
              </a:rPr>
              <a:t>A private equity fund has </a:t>
            </a:r>
            <a:r>
              <a:rPr lang="en-US" b="0" i="0" u="sng" dirty="0">
                <a:solidFill>
                  <a:srgbClr val="2C40D0"/>
                </a:solidFill>
                <a:effectLst/>
                <a:latin typeface="SourceSansPro"/>
                <a:hlinkClick r:id="rId7"/>
              </a:rPr>
              <a:t>Limited Partners</a:t>
            </a:r>
            <a:r>
              <a:rPr lang="en-US" b="0" i="0" dirty="0">
                <a:solidFill>
                  <a:srgbClr val="111111"/>
                </a:solidFill>
                <a:effectLst/>
                <a:latin typeface="SourceSansPro"/>
              </a:rPr>
              <a:t> (LP), who typically own 99 percent of shares in a fund and have </a:t>
            </a:r>
            <a:r>
              <a:rPr lang="en-US" b="0" i="0" u="sng" dirty="0">
                <a:solidFill>
                  <a:srgbClr val="2C40D0"/>
                </a:solidFill>
                <a:effectLst/>
                <a:latin typeface="SourceSansPro"/>
                <a:hlinkClick r:id="rId8"/>
              </a:rPr>
              <a:t>limited liability</a:t>
            </a:r>
            <a:r>
              <a:rPr lang="en-US" b="0" i="0" dirty="0">
                <a:solidFill>
                  <a:srgbClr val="111111"/>
                </a:solidFill>
                <a:effectLst/>
                <a:latin typeface="SourceSansPro"/>
              </a:rPr>
              <a:t>, and </a:t>
            </a:r>
            <a:r>
              <a:rPr lang="en-US" b="0" i="0" u="none" strike="noStrike" dirty="0">
                <a:solidFill>
                  <a:srgbClr val="2333A6"/>
                </a:solidFill>
                <a:effectLst/>
                <a:latin typeface="SourceSansPro"/>
                <a:hlinkClick r:id="rId9"/>
              </a:rPr>
              <a:t>General Partners</a:t>
            </a:r>
            <a:r>
              <a:rPr lang="en-US" b="0" i="0" dirty="0">
                <a:solidFill>
                  <a:srgbClr val="111111"/>
                </a:solidFill>
                <a:effectLst/>
                <a:latin typeface="SourceSansPro"/>
              </a:rPr>
              <a:t> (GP), who own 1 percent of shares and have full liability. </a:t>
            </a:r>
          </a:p>
          <a:p>
            <a:pPr marL="342900" indent="-342900" algn="l">
              <a:buFont typeface="Wingdings" panose="05000000000000000000" pitchFamily="2" charset="2"/>
              <a:buChar char="Ø"/>
            </a:pPr>
            <a:r>
              <a:rPr lang="en-US" b="0" i="0" dirty="0">
                <a:solidFill>
                  <a:srgbClr val="111111"/>
                </a:solidFill>
                <a:effectLst/>
                <a:latin typeface="SourceSansPro"/>
              </a:rPr>
              <a:t>The latter are also responsible for executing and operating the investment.</a:t>
            </a:r>
          </a:p>
          <a:p>
            <a:endParaRPr lang="en-IN" dirty="0"/>
          </a:p>
        </p:txBody>
      </p:sp>
    </p:spTree>
    <p:extLst>
      <p:ext uri="{BB962C8B-B14F-4D97-AF65-F5344CB8AC3E}">
        <p14:creationId xmlns:p14="http://schemas.microsoft.com/office/powerpoint/2010/main" val="3554286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B83D1F8-74B7-4904-A4BC-97753BB1F273}"/>
              </a:ext>
            </a:extLst>
          </p:cNvPr>
          <p:cNvSpPr>
            <a:spLocks noGrp="1"/>
          </p:cNvSpPr>
          <p:nvPr>
            <p:ph type="subTitle" idx="1"/>
          </p:nvPr>
        </p:nvSpPr>
        <p:spPr>
          <a:xfrm>
            <a:off x="319596" y="381740"/>
            <a:ext cx="11461072" cy="6134470"/>
          </a:xfrm>
        </p:spPr>
        <p:txBody>
          <a:bodyPr/>
          <a:lstStyle/>
          <a:p>
            <a:pPr algn="l"/>
            <a:r>
              <a:rPr lang="en-US" b="0" i="0" dirty="0">
                <a:solidFill>
                  <a:srgbClr val="111111"/>
                </a:solidFill>
                <a:effectLst/>
                <a:latin typeface="Cabin-semi-bold"/>
              </a:rPr>
              <a:t>Advantages of Private Equity</a:t>
            </a:r>
          </a:p>
          <a:p>
            <a:pPr marL="342900" indent="-342900" algn="just">
              <a:buFont typeface="Wingdings" panose="05000000000000000000" pitchFamily="2" charset="2"/>
              <a:buChar char="Ø"/>
            </a:pPr>
            <a:r>
              <a:rPr lang="en-US" b="0" i="0" dirty="0">
                <a:solidFill>
                  <a:srgbClr val="111111"/>
                </a:solidFill>
                <a:effectLst/>
                <a:latin typeface="SourceSansPro"/>
              </a:rPr>
              <a:t>Private equity offers several advantages to companies and startups. </a:t>
            </a:r>
          </a:p>
          <a:p>
            <a:pPr marL="342900" indent="-342900" algn="just">
              <a:buFont typeface="Wingdings" panose="05000000000000000000" pitchFamily="2" charset="2"/>
              <a:buChar char="Ø"/>
            </a:pPr>
            <a:r>
              <a:rPr lang="en-US" b="0" i="0" dirty="0">
                <a:solidFill>
                  <a:srgbClr val="111111"/>
                </a:solidFill>
                <a:effectLst/>
                <a:latin typeface="SourceSansPro"/>
              </a:rPr>
              <a:t>It is favored by companies because it allows them access to liquidity as an alternative to conventional financial mechanisms, such as high interest bank loans or listing on public markets. Certain forms of private equity, such as venture capital, also finance ideas and early stage companies. </a:t>
            </a:r>
          </a:p>
          <a:p>
            <a:pPr marL="342900" indent="-342900" algn="just">
              <a:buFont typeface="Wingdings" panose="05000000000000000000" pitchFamily="2" charset="2"/>
              <a:buChar char="Ø"/>
            </a:pPr>
            <a:r>
              <a:rPr lang="en-US" b="0" i="0" dirty="0">
                <a:solidFill>
                  <a:srgbClr val="111111"/>
                </a:solidFill>
                <a:effectLst/>
                <a:latin typeface="SourceSansPro"/>
              </a:rPr>
              <a:t>In the case of companies that are de-listed, private equity financing can help such companies attempt unorthodox growth strategies away from the glare of public markets. Otherwise, the pressure of quarterly earnings dramatically reduces the time frame available to senior management to turn a company around or experiment with new ways to cut losses or make money.  </a:t>
            </a:r>
          </a:p>
          <a:p>
            <a:endParaRPr lang="en-IN" dirty="0"/>
          </a:p>
        </p:txBody>
      </p:sp>
    </p:spTree>
    <p:extLst>
      <p:ext uri="{BB962C8B-B14F-4D97-AF65-F5344CB8AC3E}">
        <p14:creationId xmlns:p14="http://schemas.microsoft.com/office/powerpoint/2010/main" val="4255064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91E7DBB-28D7-492D-A332-18ABF6EF63F4}"/>
              </a:ext>
            </a:extLst>
          </p:cNvPr>
          <p:cNvSpPr>
            <a:spLocks noGrp="1"/>
          </p:cNvSpPr>
          <p:nvPr>
            <p:ph type="subTitle" idx="1"/>
          </p:nvPr>
        </p:nvSpPr>
        <p:spPr>
          <a:xfrm>
            <a:off x="275208" y="257451"/>
            <a:ext cx="10392792" cy="6276513"/>
          </a:xfrm>
        </p:spPr>
        <p:txBody>
          <a:bodyPr>
            <a:normAutofit fontScale="92500" lnSpcReduction="10000"/>
          </a:bodyPr>
          <a:lstStyle/>
          <a:p>
            <a:pPr marL="342900" indent="-342900" algn="just">
              <a:buFont typeface="Wingdings" panose="05000000000000000000" pitchFamily="2" charset="2"/>
              <a:buChar char="Ø"/>
            </a:pPr>
            <a:r>
              <a:rPr lang="en-US" sz="3200" b="0" i="0" dirty="0">
                <a:solidFill>
                  <a:srgbClr val="111111"/>
                </a:solidFill>
                <a:effectLst/>
                <a:latin typeface="Cabin-semi-bold"/>
              </a:rPr>
              <a:t>Disadvantages of Private Equity</a:t>
            </a:r>
          </a:p>
          <a:p>
            <a:pPr marL="342900" indent="-342900" algn="just">
              <a:buFont typeface="Wingdings" panose="05000000000000000000" pitchFamily="2" charset="2"/>
              <a:buChar char="Ø"/>
            </a:pPr>
            <a:r>
              <a:rPr lang="en-US" sz="3200" b="0" i="0" dirty="0">
                <a:solidFill>
                  <a:srgbClr val="111111"/>
                </a:solidFill>
                <a:effectLst/>
                <a:latin typeface="SourceSansPro"/>
              </a:rPr>
              <a:t>Private equity has unique challenges. First, it can be difficult to liquidate holdings in private equity because, unlike public markets, a ready-made order book that matches buyers with sellers is not available. </a:t>
            </a:r>
          </a:p>
          <a:p>
            <a:pPr marL="342900" indent="-342900" algn="just">
              <a:buFont typeface="Wingdings" panose="05000000000000000000" pitchFamily="2" charset="2"/>
              <a:buChar char="Ø"/>
            </a:pPr>
            <a:r>
              <a:rPr lang="en-US" sz="3200" b="0" i="0" dirty="0">
                <a:solidFill>
                  <a:srgbClr val="111111"/>
                </a:solidFill>
                <a:effectLst/>
                <a:latin typeface="SourceSansPro"/>
              </a:rPr>
              <a:t>A firm has to undertake a search for a buyer in order to make a sale of its investment or company. </a:t>
            </a:r>
          </a:p>
          <a:p>
            <a:pPr marL="342900" indent="-342900" algn="just">
              <a:buFont typeface="Wingdings" panose="05000000000000000000" pitchFamily="2" charset="2"/>
              <a:buChar char="Ø"/>
            </a:pPr>
            <a:r>
              <a:rPr lang="en-US" sz="3200" b="0" i="0" dirty="0">
                <a:solidFill>
                  <a:srgbClr val="111111"/>
                </a:solidFill>
                <a:effectLst/>
                <a:latin typeface="SourceSansPro"/>
              </a:rPr>
              <a:t>Second, pricing of shares for a company in private equity is determined through negotiations between buyers and sellers and not by market forces, as is generally the case for publicly-listed companies. </a:t>
            </a:r>
          </a:p>
          <a:p>
            <a:pPr marL="342900" indent="-342900" algn="just">
              <a:buFont typeface="Wingdings" panose="05000000000000000000" pitchFamily="2" charset="2"/>
              <a:buChar char="Ø"/>
            </a:pPr>
            <a:r>
              <a:rPr lang="en-US" sz="3200" b="0" i="0" dirty="0">
                <a:solidFill>
                  <a:srgbClr val="111111"/>
                </a:solidFill>
                <a:effectLst/>
                <a:latin typeface="SourceSansPro"/>
              </a:rPr>
              <a:t>Third, the rights of private equity shareholders are generally decided on a case-by-case basis through negotiations instead of a broad governance framework that typically dictates rights for their </a:t>
            </a:r>
            <a:r>
              <a:rPr lang="en-US" sz="3200" b="0" i="0" u="sng" dirty="0">
                <a:solidFill>
                  <a:srgbClr val="2C40D0"/>
                </a:solidFill>
                <a:effectLst/>
                <a:latin typeface="SourceSansPro"/>
                <a:hlinkClick r:id="rId2"/>
              </a:rPr>
              <a:t>counterparts in public markets</a:t>
            </a:r>
            <a:r>
              <a:rPr lang="en-US" sz="3200" b="0" i="0" dirty="0">
                <a:solidFill>
                  <a:srgbClr val="111111"/>
                </a:solidFill>
                <a:effectLst/>
                <a:latin typeface="SourceSansPro"/>
              </a:rPr>
              <a:t>. </a:t>
            </a:r>
          </a:p>
          <a:p>
            <a:endParaRPr lang="en-IN" dirty="0"/>
          </a:p>
        </p:txBody>
      </p:sp>
    </p:spTree>
    <p:extLst>
      <p:ext uri="{BB962C8B-B14F-4D97-AF65-F5344CB8AC3E}">
        <p14:creationId xmlns:p14="http://schemas.microsoft.com/office/powerpoint/2010/main" val="1949959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3302</Words>
  <Application>Microsoft Office PowerPoint</Application>
  <PresentationFormat>Widescreen</PresentationFormat>
  <Paragraphs>193</Paragraphs>
  <Slides>24</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24</vt:i4>
      </vt:variant>
    </vt:vector>
  </HeadingPairs>
  <TitlesOfParts>
    <vt:vector size="40" baseType="lpstr">
      <vt:lpstr>Arial</vt:lpstr>
      <vt:lpstr>Arial</vt:lpstr>
      <vt:lpstr>Cabin-semi-bold</vt:lpstr>
      <vt:lpstr>Calibri</vt:lpstr>
      <vt:lpstr>Calibri Light</vt:lpstr>
      <vt:lpstr>Gilroy</vt:lpstr>
      <vt:lpstr>Lato</vt:lpstr>
      <vt:lpstr>Minion Pro</vt:lpstr>
      <vt:lpstr>Nunito Sans</vt:lpstr>
      <vt:lpstr>Open Sans</vt:lpstr>
      <vt:lpstr>Raleway</vt:lpstr>
      <vt:lpstr>Rubik</vt:lpstr>
      <vt:lpstr>SourceSansPro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prasanna rao</dc:creator>
  <cp:lastModifiedBy>prasanna rao</cp:lastModifiedBy>
  <cp:revision>5</cp:revision>
  <dcterms:created xsi:type="dcterms:W3CDTF">2022-01-19T10:20:26Z</dcterms:created>
  <dcterms:modified xsi:type="dcterms:W3CDTF">2022-01-19T11:37:28Z</dcterms:modified>
</cp:coreProperties>
</file>